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6" r:id="rId2"/>
    <p:sldId id="317" r:id="rId3"/>
    <p:sldId id="290" r:id="rId4"/>
    <p:sldId id="301" r:id="rId5"/>
    <p:sldId id="300" r:id="rId6"/>
    <p:sldId id="302" r:id="rId7"/>
    <p:sldId id="303" r:id="rId8"/>
    <p:sldId id="304" r:id="rId9"/>
    <p:sldId id="305" r:id="rId10"/>
    <p:sldId id="314" r:id="rId11"/>
    <p:sldId id="307" r:id="rId12"/>
    <p:sldId id="308" r:id="rId13"/>
    <p:sldId id="309" r:id="rId14"/>
    <p:sldId id="315" r:id="rId15"/>
    <p:sldId id="310" r:id="rId16"/>
    <p:sldId id="311" r:id="rId17"/>
    <p:sldId id="31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16"/>
            <p14:sldId id="317"/>
            <p14:sldId id="290"/>
            <p14:sldId id="301"/>
            <p14:sldId id="300"/>
            <p14:sldId id="302"/>
            <p14:sldId id="303"/>
            <p14:sldId id="304"/>
            <p14:sldId id="305"/>
            <p14:sldId id="314"/>
            <p14:sldId id="307"/>
            <p14:sldId id="308"/>
            <p14:sldId id="309"/>
            <p14:sldId id="315"/>
            <p14:sldId id="310"/>
            <p14:sldId id="311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35" autoAdjust="0"/>
    <p:restoredTop sz="94660"/>
  </p:normalViewPr>
  <p:slideViewPr>
    <p:cSldViewPr snapToGrid="0">
      <p:cViewPr varScale="1">
        <p:scale>
          <a:sx n="86" d="100"/>
          <a:sy n="86" d="100"/>
        </p:scale>
        <p:origin x="2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C1933-18F5-4246-B1F0-35A4DD3AC935}" type="datetimeFigureOut">
              <a:rPr lang="fr-FR" smtClean="0"/>
              <a:pPr/>
              <a:t>21/11/2022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7279F-DFAE-4657-A800-A8C38FC41E9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50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5FB7F-F2FC-4737-BCD0-CE0B35E648E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343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97188-94FC-4EC8-B036-295329A22456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87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B5501-950D-4D0C-8C8D-8F365E11464F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F56D-F97B-4B42-AF7D-A701BADB25AD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66EF-5659-4EC8-834B-3AC94AC551F2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0754-D5AA-481E-8234-CED84AFFDED9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C6A1-8609-4D30-AF51-472C97C43BD1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26E9-E7F4-447E-A11B-BEAC7EEED58D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CDF4-D1F6-4450-9EFF-39E6BFA54288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DED6-E904-467B-8758-0EB861C08D67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0D8F-4FC9-4C89-8F23-3921696D29C3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2CFD-C6F4-4E7E-A291-5D55B215BD2E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32F8-732B-4A3F-A46E-762899B9086A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4DCEE-DECE-4E5A-8DB4-06340A8C4F60}" type="datetime1">
              <a:rPr lang="fr-FR" smtClean="0"/>
              <a:pPr/>
              <a:t>21/11/2022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C:\Documents and Settings\Aziz\Bureau\angl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1524000" y="1"/>
            <a:ext cx="86868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Image 11" descr="E:\Soft\esprit_logo.gif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3322" y="0"/>
            <a:ext cx="3071834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524000" y="1428736"/>
            <a:ext cx="9144000" cy="1357322"/>
          </a:xfrm>
          <a:prstGeom prst="rect">
            <a:avLst/>
          </a:prstGeom>
          <a:solidFill>
            <a:srgbClr val="D8D8D8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032" name="AutoShape 8"/>
          <p:cNvCxnSpPr>
            <a:cxnSpLocks noChangeShapeType="1"/>
            <a:endCxn id="1037" idx="0"/>
          </p:cNvCxnSpPr>
          <p:nvPr/>
        </p:nvCxnSpPr>
        <p:spPr bwMode="auto">
          <a:xfrm rot="5400000">
            <a:off x="1964510" y="4629962"/>
            <a:ext cx="3260750" cy="157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033" name="AutoShape 9"/>
          <p:cNvCxnSpPr>
            <a:cxnSpLocks noChangeShapeType="1"/>
          </p:cNvCxnSpPr>
          <p:nvPr/>
        </p:nvCxnSpPr>
        <p:spPr bwMode="auto">
          <a:xfrm>
            <a:off x="1524000" y="2998784"/>
            <a:ext cx="2057400" cy="15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1035" name="AutoShape 11"/>
          <p:cNvSpPr>
            <a:spLocks noChangeArrowheads="1"/>
          </p:cNvSpPr>
          <p:nvPr/>
        </p:nvSpPr>
        <p:spPr bwMode="auto">
          <a:xfrm rot="-21600000">
            <a:off x="7752184" y="5500702"/>
            <a:ext cx="2139830" cy="1000132"/>
          </a:xfrm>
          <a:prstGeom prst="bracketPair">
            <a:avLst>
              <a:gd name="adj" fmla="val 8051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37" name="AutoShape 13"/>
          <p:cNvSpPr>
            <a:spLocks noChangeArrowheads="1"/>
          </p:cNvSpPr>
          <p:nvPr/>
        </p:nvSpPr>
        <p:spPr bwMode="auto">
          <a:xfrm>
            <a:off x="3429000" y="6261122"/>
            <a:ext cx="330200" cy="311150"/>
          </a:xfrm>
          <a:prstGeom prst="flowChartConnector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9239272" y="635795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</a:p>
        </p:txBody>
      </p:sp>
      <p:sp>
        <p:nvSpPr>
          <p:cNvPr id="20" name="Sous-titre 2"/>
          <p:cNvSpPr>
            <a:spLocks noGrp="1"/>
          </p:cNvSpPr>
          <p:nvPr>
            <p:ph type="subTitle" idx="1"/>
          </p:nvPr>
        </p:nvSpPr>
        <p:spPr>
          <a:xfrm>
            <a:off x="1524000" y="1357298"/>
            <a:ext cx="9144000" cy="538154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Architecture des microcontrôleurs</a:t>
            </a:r>
          </a:p>
          <a:p>
            <a:r>
              <a:rPr lang="fr-FR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Classes: 2P &amp; 2A &amp; 3B</a:t>
            </a:r>
          </a:p>
          <a:p>
            <a:endParaRPr lang="fr-FR" sz="28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fr-FR" sz="28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Sous-titre 2"/>
          <p:cNvSpPr txBox="1">
            <a:spLocks/>
          </p:cNvSpPr>
          <p:nvPr/>
        </p:nvSpPr>
        <p:spPr>
          <a:xfrm>
            <a:off x="7752184" y="5660253"/>
            <a:ext cx="3571900" cy="538154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fr-FR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UP Embarqué</a:t>
            </a:r>
          </a:p>
        </p:txBody>
      </p:sp>
      <p:sp>
        <p:nvSpPr>
          <p:cNvPr id="17" name="Sous-titre 2"/>
          <p:cNvSpPr txBox="1">
            <a:spLocks/>
          </p:cNvSpPr>
          <p:nvPr/>
        </p:nvSpPr>
        <p:spPr>
          <a:xfrm>
            <a:off x="2024034" y="3033722"/>
            <a:ext cx="9144000" cy="538154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fr-FR" sz="2800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Microcontrôleurs PIC 16F84: </a:t>
            </a:r>
          </a:p>
          <a:p>
            <a:pPr algn="ctr">
              <a:spcBef>
                <a:spcPct val="20000"/>
              </a:spcBef>
              <a:defRPr/>
            </a:pPr>
            <a:r>
              <a:rPr lang="fr-FR" sz="2800" b="1" dirty="0" err="1"/>
              <a:t>Timer</a:t>
            </a:r>
            <a:endParaRPr lang="fr-FR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1809720" y="3244334"/>
            <a:ext cx="1425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fr-FR" sz="2000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Chapitre 4</a:t>
            </a:r>
            <a:endParaRPr lang="fr-FR" sz="1400" b="1" dirty="0">
              <a:solidFill>
                <a:srgbClr val="FF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308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1200" y="-214338"/>
            <a:ext cx="8229600" cy="1143000"/>
          </a:xfrm>
        </p:spPr>
        <p:txBody>
          <a:bodyPr>
            <a:noAutofit/>
          </a:bodyPr>
          <a:lstStyle/>
          <a:p>
            <a:r>
              <a:rPr lang="fr-FR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2596" y="928670"/>
            <a:ext cx="8586790" cy="5286388"/>
          </a:xfrm>
        </p:spPr>
        <p:txBody>
          <a:bodyPr>
            <a:noAutofit/>
          </a:bodyPr>
          <a:lstStyle/>
          <a:p>
            <a:pPr>
              <a:buNone/>
            </a:pPr>
            <a:endParaRPr lang="fr-FR" i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0">
              <a:buNone/>
            </a:pPr>
            <a:endParaRPr lang="fr-FR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fr-FR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>
            <a:off x="1524000" y="785794"/>
            <a:ext cx="9144000" cy="1588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9382148" y="6421462"/>
            <a:ext cx="1214414" cy="36512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fr-BE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</a:t>
            </a:r>
            <a:fld id="{CF4668DC-857F-487D-BFFA-8C0CA5037977}" type="slidenum">
              <a:rPr lang="fr-BE" smtClean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pPr/>
              <a:t>2</a:t>
            </a:fld>
            <a:endParaRPr lang="fr-BE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6712" y="1500174"/>
            <a:ext cx="1007275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0" lvl="2" indent="-51435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fr-FR" sz="2400" dirty="0"/>
              <a:t>Définition </a:t>
            </a:r>
            <a:r>
              <a:rPr lang="fr-FR" sz="2400" dirty="0" err="1"/>
              <a:t>timer</a:t>
            </a:r>
            <a:endParaRPr lang="fr-FR" sz="2400" dirty="0"/>
          </a:p>
          <a:p>
            <a:pPr marL="1428750" lvl="2" indent="-51435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fr-FR" sz="2400" dirty="0"/>
              <a:t>Configuration</a:t>
            </a:r>
          </a:p>
          <a:p>
            <a:pPr marL="1428750" lvl="2" indent="-51435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fr-FR" sz="2400" dirty="0"/>
              <a:t>Utilisation du mode interruption</a:t>
            </a:r>
          </a:p>
          <a:p>
            <a:pPr marL="1428750" lvl="2" indent="-514350" algn="just">
              <a:lnSpc>
                <a:spcPct val="150000"/>
              </a:lnSpc>
              <a:buClr>
                <a:srgbClr val="FF0000"/>
              </a:buClr>
              <a:buFont typeface="+mj-lt"/>
              <a:buAutoNum type="arabicPeriod"/>
            </a:pPr>
            <a:endParaRPr lang="fr-FR" sz="2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fr-FR" sz="2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98041" y="3568582"/>
            <a:ext cx="52959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324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9B04266-A796-4781-B453-4943CBC0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3146352E-98B5-47F9-9FD8-9EF6FCC7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565910"/>
            <a:ext cx="11807190" cy="5052060"/>
          </a:xfrm>
        </p:spPr>
        <p:txBody>
          <a:bodyPr/>
          <a:lstStyle/>
          <a:p>
            <a:r>
              <a:rPr lang="fr-FR" sz="2400" dirty="0" smtClean="0"/>
              <a:t>Le  TIMER </a:t>
            </a:r>
            <a:r>
              <a:rPr lang="fr-FR" sz="2400" dirty="0"/>
              <a:t>est un périphérique </a:t>
            </a:r>
            <a:r>
              <a:rPr lang="fr-FR" sz="2400" b="1" dirty="0"/>
              <a:t>matériel</a:t>
            </a:r>
            <a:r>
              <a:rPr lang="fr-FR" sz="2400" dirty="0"/>
              <a:t> inclus dans </a:t>
            </a:r>
            <a:r>
              <a:rPr lang="fr-FR" sz="2400" dirty="0" smtClean="0"/>
              <a:t>le microcontrôleur permettant </a:t>
            </a:r>
            <a:r>
              <a:rPr lang="fr-FR" sz="2400" dirty="0"/>
              <a:t>de mesurer des </a:t>
            </a:r>
            <a:r>
              <a:rPr lang="fr-FR" sz="2400" dirty="0" smtClean="0"/>
              <a:t>durées ou pour faire du comptage. </a:t>
            </a:r>
          </a:p>
          <a:p>
            <a:pPr marL="0" indent="0">
              <a:buNone/>
            </a:pPr>
            <a:endParaRPr lang="fr-FR" sz="2400" dirty="0" smtClean="0"/>
          </a:p>
          <a:p>
            <a:r>
              <a:rPr lang="fr-FR" sz="2400" dirty="0" smtClean="0"/>
              <a:t>Le </a:t>
            </a:r>
            <a:r>
              <a:rPr lang="fr-FR" sz="2400" dirty="0"/>
              <a:t>PIC 16F84 comporte un seul </a:t>
            </a:r>
            <a:r>
              <a:rPr lang="fr-FR" sz="2400" dirty="0" smtClean="0"/>
              <a:t>TIMER (TMR0) contrairement </a:t>
            </a:r>
            <a:r>
              <a:rPr lang="fr-FR" sz="2400" dirty="0"/>
              <a:t>à d’autres PIC qui comportent plusieurs </a:t>
            </a:r>
            <a:r>
              <a:rPr lang="fr-FR" sz="2400" dirty="0" err="1"/>
              <a:t>timers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 smtClean="0"/>
              <a:t>Dans le PIC16F84, le TIMER peut </a:t>
            </a:r>
            <a:r>
              <a:rPr lang="fr-FR" sz="2400" dirty="0"/>
              <a:t>jouer deux rôles</a:t>
            </a:r>
            <a:r>
              <a:rPr lang="fr-FR" sz="2400" dirty="0" smtClean="0"/>
              <a:t>:</a:t>
            </a:r>
          </a:p>
          <a:p>
            <a:pPr marL="0" indent="0">
              <a:buNone/>
            </a:pPr>
            <a:endParaRPr lang="fr-FR" sz="2400" dirty="0" smtClean="0"/>
          </a:p>
          <a:p>
            <a:pPr marL="712788" lvl="1">
              <a:spcBef>
                <a:spcPts val="1000"/>
              </a:spcBef>
            </a:pPr>
            <a:r>
              <a:rPr lang="fr-FR" b="1" dirty="0">
                <a:solidFill>
                  <a:srgbClr val="FF0000"/>
                </a:solidFill>
              </a:rPr>
              <a:t>Mode </a:t>
            </a:r>
            <a:r>
              <a:rPr lang="fr-FR" b="1" dirty="0" err="1">
                <a:solidFill>
                  <a:srgbClr val="FF0000"/>
                </a:solidFill>
              </a:rPr>
              <a:t>timer</a:t>
            </a:r>
            <a:r>
              <a:rPr lang="fr-FR" b="1" dirty="0">
                <a:solidFill>
                  <a:srgbClr val="FF0000"/>
                </a:solidFill>
              </a:rPr>
              <a:t>: </a:t>
            </a:r>
            <a:r>
              <a:rPr lang="fr-FR" dirty="0"/>
              <a:t>compter les cycles d’horloge , donc compte </a:t>
            </a:r>
            <a:r>
              <a:rPr lang="fr-FR" b="1" dirty="0"/>
              <a:t>le temps</a:t>
            </a:r>
            <a:r>
              <a:rPr lang="fr-FR" dirty="0"/>
              <a:t> en fonction du cycle de </a:t>
            </a:r>
            <a:r>
              <a:rPr lang="fr-FR" dirty="0" smtClean="0"/>
              <a:t>l’horloge  -&gt; </a:t>
            </a:r>
            <a:r>
              <a:rPr lang="fr-FR" b="1" dirty="0" smtClean="0"/>
              <a:t>mesurer des durées</a:t>
            </a:r>
            <a:endParaRPr lang="fr-FR" sz="1800" b="1" dirty="0"/>
          </a:p>
          <a:p>
            <a:endParaRPr lang="fr-FR" sz="2400" dirty="0"/>
          </a:p>
          <a:p>
            <a:pPr lvl="1"/>
            <a:r>
              <a:rPr lang="fr-FR" b="1" dirty="0">
                <a:solidFill>
                  <a:srgbClr val="FF0000"/>
                </a:solidFill>
              </a:rPr>
              <a:t>Mode compteur:  </a:t>
            </a:r>
            <a:r>
              <a:rPr lang="fr-FR" dirty="0"/>
              <a:t>compte les </a:t>
            </a:r>
            <a:r>
              <a:rPr lang="fr-FR" b="1" dirty="0"/>
              <a:t>impulsions</a:t>
            </a:r>
            <a:r>
              <a:rPr lang="fr-FR" dirty="0"/>
              <a:t> reçues sur la pin spéciale </a:t>
            </a:r>
            <a:r>
              <a:rPr lang="fr-FR" b="1" dirty="0"/>
              <a:t>RA4/TOKI</a:t>
            </a:r>
            <a:r>
              <a:rPr lang="fr-FR" dirty="0"/>
              <a:t>.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A30514C3-AAF4-4A3C-9EA1-B32B9183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53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4255" y="119982"/>
            <a:ext cx="10515600" cy="1325563"/>
          </a:xfrm>
        </p:spPr>
        <p:txBody>
          <a:bodyPr/>
          <a:lstStyle/>
          <a:p>
            <a:r>
              <a:rPr lang="fr-FR" dirty="0" smtClean="0"/>
              <a:t>   Principe : TMR0 - MODE TIMER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526828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137" name="Rectangle 136"/>
          <p:cNvSpPr/>
          <p:nvPr/>
        </p:nvSpPr>
        <p:spPr>
          <a:xfrm>
            <a:off x="26338" y="1259037"/>
            <a:ext cx="6875370" cy="672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sz="2000" dirty="0">
                <a:cs typeface="Times New Roman" pitchFamily="18" charset="0"/>
              </a:rPr>
              <a:t>Le TMR0 est </a:t>
            </a:r>
            <a:r>
              <a:rPr lang="fr-FR" sz="2000" b="1" dirty="0">
                <a:cs typeface="Times New Roman" pitchFamily="18" charset="0"/>
              </a:rPr>
              <a:t>un registre 8 bits </a:t>
            </a:r>
            <a:r>
              <a:rPr lang="fr-FR" sz="2000" dirty="0">
                <a:cs typeface="Times New Roman" pitchFamily="18" charset="0"/>
              </a:rPr>
              <a:t>(0 à 255 en numération décimale</a:t>
            </a:r>
            <a:r>
              <a:rPr lang="fr-FR" sz="2000" dirty="0" smtClean="0">
                <a:cs typeface="Times New Roman" pitchFamily="18" charset="0"/>
              </a:rPr>
              <a:t>).</a:t>
            </a:r>
          </a:p>
          <a:p>
            <a:pPr marL="285750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sz="2000" dirty="0" smtClean="0"/>
              <a:t>Ce </a:t>
            </a:r>
            <a:r>
              <a:rPr lang="fr-FR" sz="2000" dirty="0"/>
              <a:t>registre est accessible en lecture ou en </a:t>
            </a:r>
            <a:r>
              <a:rPr lang="fr-FR" sz="2000" dirty="0" smtClean="0"/>
              <a:t>écriture.</a:t>
            </a:r>
          </a:p>
          <a:p>
            <a:pPr marL="0" lvl="1">
              <a:spcBef>
                <a:spcPts val="1000"/>
              </a:spcBef>
            </a:pPr>
            <a:endParaRPr lang="fr-FR" sz="2000" dirty="0"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 smtClean="0">
                <a:cs typeface="Times New Roman" pitchFamily="18" charset="0"/>
              </a:rPr>
              <a:t>Le </a:t>
            </a:r>
            <a:r>
              <a:rPr lang="fr-FR" sz="2000" dirty="0">
                <a:cs typeface="Times New Roman" pitchFamily="18" charset="0"/>
              </a:rPr>
              <a:t>contenu du registre TMR0 est </a:t>
            </a:r>
            <a:r>
              <a:rPr lang="fr-FR" sz="2000" b="1" dirty="0" smtClean="0">
                <a:cs typeface="Times New Roman" pitchFamily="18" charset="0"/>
              </a:rPr>
              <a:t>incrémenté</a:t>
            </a:r>
            <a:r>
              <a:rPr lang="fr-FR" sz="2000" dirty="0" smtClean="0">
                <a:cs typeface="Times New Roman" pitchFamily="18" charset="0"/>
              </a:rPr>
              <a:t> chaque </a:t>
            </a:r>
            <a:r>
              <a:rPr lang="fr-FR" sz="2000" dirty="0">
                <a:cs typeface="Times New Roman" pitchFamily="18" charset="0"/>
              </a:rPr>
              <a:t>:</a:t>
            </a:r>
          </a:p>
          <a:p>
            <a:pPr marL="901700" indent="-342900">
              <a:buFont typeface="Wingdings" panose="05000000000000000000" pitchFamily="2" charset="2"/>
              <a:buChar char="ü"/>
            </a:pPr>
            <a:r>
              <a:rPr lang="fr-FR" sz="2000" b="1" dirty="0" smtClean="0">
                <a:cs typeface="Times New Roman" pitchFamily="18" charset="0"/>
              </a:rPr>
              <a:t>cycle </a:t>
            </a:r>
            <a:r>
              <a:rPr lang="fr-FR" sz="2000" b="1" dirty="0">
                <a:cs typeface="Times New Roman" pitchFamily="18" charset="0"/>
              </a:rPr>
              <a:t>de l'horloge</a:t>
            </a:r>
            <a:r>
              <a:rPr lang="fr-FR" sz="2000" dirty="0">
                <a:cs typeface="Times New Roman" pitchFamily="18" charset="0"/>
              </a:rPr>
              <a:t> </a:t>
            </a:r>
            <a:r>
              <a:rPr lang="fr-FR" sz="2000" dirty="0" smtClean="0">
                <a:cs typeface="Times New Roman" pitchFamily="18" charset="0"/>
              </a:rPr>
              <a:t>si </a:t>
            </a:r>
            <a:r>
              <a:rPr lang="fr-FR" sz="2000" dirty="0">
                <a:cs typeface="Times New Roman" pitchFamily="18" charset="0"/>
              </a:rPr>
              <a:t>on n’a </a:t>
            </a:r>
            <a:r>
              <a:rPr lang="fr-FR" sz="2000" dirty="0" smtClean="0">
                <a:cs typeface="Times New Roman" pitchFamily="18" charset="0"/>
              </a:rPr>
              <a:t>pas un </a:t>
            </a:r>
            <a:r>
              <a:rPr lang="fr-FR" sz="2000" dirty="0">
                <a:cs typeface="Times New Roman" pitchFamily="18" charset="0"/>
              </a:rPr>
              <a:t>taux de </a:t>
            </a:r>
            <a:r>
              <a:rPr lang="fr-FR" sz="2000" dirty="0" err="1">
                <a:cs typeface="Times New Roman" pitchFamily="18" charset="0"/>
              </a:rPr>
              <a:t>prédivision</a:t>
            </a:r>
            <a:r>
              <a:rPr lang="fr-FR" sz="2000" dirty="0">
                <a:cs typeface="Times New Roman" pitchFamily="18" charset="0"/>
              </a:rPr>
              <a:t> (</a:t>
            </a:r>
            <a:r>
              <a:rPr lang="fr-FR" sz="2000" dirty="0" err="1">
                <a:cs typeface="Times New Roman" pitchFamily="18" charset="0"/>
              </a:rPr>
              <a:t>prescaler</a:t>
            </a:r>
            <a:r>
              <a:rPr lang="fr-FR" sz="2000" dirty="0" smtClean="0">
                <a:cs typeface="Times New Roman" pitchFamily="18" charset="0"/>
              </a:rPr>
              <a:t>)</a:t>
            </a:r>
          </a:p>
          <a:p>
            <a:pPr marL="901700" indent="-342900">
              <a:buFont typeface="Wingdings" panose="05000000000000000000" pitchFamily="2" charset="2"/>
              <a:buChar char="ü"/>
            </a:pPr>
            <a:r>
              <a:rPr lang="fr-FR" sz="2000" b="1" dirty="0" smtClean="0">
                <a:cs typeface="Times New Roman" pitchFamily="18" charset="0"/>
              </a:rPr>
              <a:t>2 cycles d’horloges </a:t>
            </a:r>
            <a:r>
              <a:rPr lang="fr-FR" sz="2000" dirty="0" smtClean="0">
                <a:cs typeface="Times New Roman" pitchFamily="18" charset="0"/>
              </a:rPr>
              <a:t>si le </a:t>
            </a:r>
            <a:r>
              <a:rPr lang="fr-FR" sz="2000" dirty="0">
                <a:cs typeface="Times New Roman" pitchFamily="18" charset="0"/>
              </a:rPr>
              <a:t>taux de </a:t>
            </a:r>
            <a:r>
              <a:rPr lang="fr-FR" sz="2000" dirty="0" err="1">
                <a:cs typeface="Times New Roman" pitchFamily="18" charset="0"/>
              </a:rPr>
              <a:t>prédivision</a:t>
            </a:r>
            <a:r>
              <a:rPr lang="fr-FR" sz="2000" dirty="0">
                <a:cs typeface="Times New Roman" pitchFamily="18" charset="0"/>
              </a:rPr>
              <a:t> </a:t>
            </a:r>
            <a:r>
              <a:rPr lang="fr-FR" sz="2000" dirty="0" smtClean="0">
                <a:cs typeface="Times New Roman" pitchFamily="18" charset="0"/>
              </a:rPr>
              <a:t>= 2</a:t>
            </a:r>
          </a:p>
          <a:p>
            <a:pPr marL="901700" indent="-342900">
              <a:buFont typeface="Wingdings" panose="05000000000000000000" pitchFamily="2" charset="2"/>
              <a:buChar char="ü"/>
            </a:pPr>
            <a:r>
              <a:rPr lang="fr-FR" sz="2000" b="1" dirty="0" smtClean="0">
                <a:cs typeface="Times New Roman" pitchFamily="18" charset="0"/>
              </a:rPr>
              <a:t>4 </a:t>
            </a:r>
            <a:r>
              <a:rPr lang="fr-FR" sz="2000" b="1" dirty="0">
                <a:cs typeface="Times New Roman" pitchFamily="18" charset="0"/>
              </a:rPr>
              <a:t>cycles d’horloges </a:t>
            </a:r>
            <a:r>
              <a:rPr lang="fr-FR" sz="2000" dirty="0">
                <a:cs typeface="Times New Roman" pitchFamily="18" charset="0"/>
              </a:rPr>
              <a:t>si le taux de </a:t>
            </a:r>
            <a:r>
              <a:rPr lang="fr-FR" sz="2000" dirty="0" err="1">
                <a:cs typeface="Times New Roman" pitchFamily="18" charset="0"/>
              </a:rPr>
              <a:t>prédivision</a:t>
            </a:r>
            <a:r>
              <a:rPr lang="fr-FR" sz="2000" dirty="0">
                <a:cs typeface="Times New Roman" pitchFamily="18" charset="0"/>
              </a:rPr>
              <a:t> = </a:t>
            </a:r>
            <a:r>
              <a:rPr lang="fr-FR" sz="2000" dirty="0" smtClean="0">
                <a:cs typeface="Times New Roman" pitchFamily="18" charset="0"/>
              </a:rPr>
              <a:t>4</a:t>
            </a:r>
          </a:p>
          <a:p>
            <a:pPr marL="558800"/>
            <a:r>
              <a:rPr lang="fr-FR" sz="2000" dirty="0" smtClean="0">
                <a:cs typeface="Times New Roman" pitchFamily="18" charset="0"/>
              </a:rPr>
              <a:t>                                              …</a:t>
            </a:r>
          </a:p>
          <a:p>
            <a:pPr marL="558800"/>
            <a:r>
              <a:rPr lang="fr-FR" sz="2000" dirty="0" smtClean="0">
                <a:cs typeface="Times New Roman" pitchFamily="18" charset="0"/>
              </a:rPr>
              <a:t>                                              …</a:t>
            </a:r>
          </a:p>
          <a:p>
            <a:pPr marL="901700" indent="-342900">
              <a:buFont typeface="Wingdings" panose="05000000000000000000" pitchFamily="2" charset="2"/>
              <a:buChar char="ü"/>
            </a:pPr>
            <a:r>
              <a:rPr lang="fr-FR" sz="2000" b="1" dirty="0" smtClean="0">
                <a:cs typeface="Times New Roman" pitchFamily="18" charset="0"/>
              </a:rPr>
              <a:t>256 </a:t>
            </a:r>
            <a:r>
              <a:rPr lang="fr-FR" sz="2000" b="1" dirty="0">
                <a:cs typeface="Times New Roman" pitchFamily="18" charset="0"/>
              </a:rPr>
              <a:t>cycles d’horloges </a:t>
            </a:r>
            <a:r>
              <a:rPr lang="fr-FR" sz="2000" dirty="0">
                <a:cs typeface="Times New Roman" pitchFamily="18" charset="0"/>
              </a:rPr>
              <a:t>si le taux de </a:t>
            </a:r>
            <a:r>
              <a:rPr lang="fr-FR" sz="2000" dirty="0" err="1">
                <a:cs typeface="Times New Roman" pitchFamily="18" charset="0"/>
              </a:rPr>
              <a:t>prédivision</a:t>
            </a:r>
            <a:r>
              <a:rPr lang="fr-FR" sz="2000" dirty="0">
                <a:cs typeface="Times New Roman" pitchFamily="18" charset="0"/>
              </a:rPr>
              <a:t> = </a:t>
            </a:r>
            <a:r>
              <a:rPr lang="fr-FR" sz="2000" dirty="0" smtClean="0">
                <a:cs typeface="Times New Roman" pitchFamily="18" charset="0"/>
              </a:rPr>
              <a:t>256</a:t>
            </a:r>
            <a:endParaRPr lang="fr-FR" sz="2000" dirty="0">
              <a:cs typeface="Times New Roman" pitchFamily="18" charset="0"/>
            </a:endParaRPr>
          </a:p>
          <a:p>
            <a:pPr marL="558800"/>
            <a:endParaRPr lang="fr-FR" sz="2000" dirty="0" smtClean="0">
              <a:cs typeface="Times New Roman" pitchFamily="18" charset="0"/>
            </a:endParaRPr>
          </a:p>
          <a:p>
            <a:pPr marL="342900" indent="-342900" defTabSz="268288">
              <a:buFont typeface="Wingdings" panose="05000000000000000000" pitchFamily="2" charset="2"/>
              <a:buChar char="§"/>
            </a:pPr>
            <a:r>
              <a:rPr lang="fr-FR" sz="2000" dirty="0" smtClean="0">
                <a:cs typeface="Times New Roman" pitchFamily="18" charset="0"/>
              </a:rPr>
              <a:t>Les </a:t>
            </a:r>
            <a:r>
              <a:rPr lang="fr-FR" sz="2000" dirty="0" err="1" smtClean="0">
                <a:cs typeface="Times New Roman" pitchFamily="18" charset="0"/>
              </a:rPr>
              <a:t>prédiviseurs</a:t>
            </a:r>
            <a:r>
              <a:rPr lang="fr-FR" sz="2000" dirty="0" smtClean="0">
                <a:cs typeface="Times New Roman" pitchFamily="18" charset="0"/>
              </a:rPr>
              <a:t> du TMR0 sont :  2, 4, 8, 16, 32, 64, 128, 256.</a:t>
            </a:r>
          </a:p>
          <a:p>
            <a:pPr marL="342900" indent="-342900" defTabSz="268288">
              <a:buFont typeface="Wingdings" panose="05000000000000000000" pitchFamily="2" charset="2"/>
              <a:buChar char="§"/>
            </a:pPr>
            <a:endParaRPr lang="fr-FR" sz="2000" dirty="0">
              <a:cs typeface="Times New Roman" pitchFamily="18" charset="0"/>
            </a:endParaRPr>
          </a:p>
          <a:p>
            <a:pPr marL="342900" indent="-342900" defTabSz="268288">
              <a:buFont typeface="Wingdings" panose="05000000000000000000" pitchFamily="2" charset="2"/>
              <a:buChar char="§"/>
            </a:pPr>
            <a:r>
              <a:rPr lang="fr-FR" sz="2000" dirty="0" smtClean="0">
                <a:cs typeface="Times New Roman" pitchFamily="18" charset="0"/>
              </a:rPr>
              <a:t>Le TMR0 génère une </a:t>
            </a:r>
            <a:r>
              <a:rPr lang="fr-FR" sz="2000" b="1" dirty="0" smtClean="0">
                <a:cs typeface="Times New Roman" pitchFamily="18" charset="0"/>
              </a:rPr>
              <a:t>interruption </a:t>
            </a:r>
            <a:r>
              <a:rPr lang="fr-FR" sz="2000" dirty="0" smtClean="0">
                <a:cs typeface="Times New Roman" pitchFamily="18" charset="0"/>
              </a:rPr>
              <a:t>à chaque fois que sa valeur </a:t>
            </a:r>
            <a:r>
              <a:rPr lang="fr-FR" sz="2000" b="1" dirty="0" smtClean="0">
                <a:cs typeface="Times New Roman" pitchFamily="18" charset="0"/>
              </a:rPr>
              <a:t>devient </a:t>
            </a:r>
            <a:r>
              <a:rPr lang="fr-FR" sz="2000" b="1" dirty="0" smtClean="0">
                <a:cs typeface="Times New Roman" pitchFamily="18" charset="0"/>
              </a:rPr>
              <a:t>zéro (255</a:t>
            </a:r>
            <a:r>
              <a:rPr lang="fr-FR" sz="2000" b="1" dirty="0" smtClean="0">
                <a:cs typeface="Times New Roman" pitchFamily="18" charset="0"/>
                <a:sym typeface="Wingdings" panose="05000000000000000000" pitchFamily="2" charset="2"/>
              </a:rPr>
              <a:t>0)</a:t>
            </a:r>
            <a:endParaRPr lang="fr-FR" sz="2000" b="1" dirty="0">
              <a:cs typeface="Times New Roman" pitchFamily="18" charset="0"/>
            </a:endParaRPr>
          </a:p>
          <a:p>
            <a:pPr marL="901700" indent="-342900">
              <a:buFont typeface="Wingdings" panose="05000000000000000000" pitchFamily="2" charset="2"/>
              <a:buChar char="ü"/>
            </a:pPr>
            <a:endParaRPr lang="fr-FR" sz="2400" dirty="0">
              <a:cs typeface="Times New Roman" pitchFamily="18" charset="0"/>
            </a:endParaRPr>
          </a:p>
          <a:p>
            <a:pPr marL="342900" indent="-342900">
              <a:buFontTx/>
              <a:buChar char="-"/>
            </a:pPr>
            <a:endParaRPr lang="fr-FR" sz="2400" dirty="0">
              <a:cs typeface="Times New Roman" pitchFamily="18" charset="0"/>
            </a:endParaRPr>
          </a:p>
          <a:p>
            <a:pPr marL="998538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fr-F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8559808" y="3152638"/>
            <a:ext cx="2010047" cy="109696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/>
              <a:t>+ 1</a:t>
            </a:r>
            <a:endParaRPr lang="fr-FR" sz="3600" b="1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6686334" y="3657600"/>
            <a:ext cx="6777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3" name="Connecteur droit avec flèche 112"/>
          <p:cNvCxnSpPr/>
          <p:nvPr/>
        </p:nvCxnSpPr>
        <p:spPr>
          <a:xfrm>
            <a:off x="8171487" y="3657600"/>
            <a:ext cx="3828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3" name="Groupe 32"/>
          <p:cNvGrpSpPr/>
          <p:nvPr/>
        </p:nvGrpSpPr>
        <p:grpSpPr>
          <a:xfrm>
            <a:off x="6823504" y="3343957"/>
            <a:ext cx="356806" cy="175352"/>
            <a:chOff x="7791154" y="2672861"/>
            <a:chExt cx="706155" cy="337625"/>
          </a:xfrm>
        </p:grpSpPr>
        <p:cxnSp>
          <p:nvCxnSpPr>
            <p:cNvPr id="24" name="Connecteur droit 23"/>
            <p:cNvCxnSpPr/>
            <p:nvPr/>
          </p:nvCxnSpPr>
          <p:spPr>
            <a:xfrm>
              <a:off x="7791154" y="3000341"/>
              <a:ext cx="356806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>
              <a:off x="8142847" y="2672861"/>
              <a:ext cx="0" cy="33762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1" name="Connecteur droit 120"/>
            <p:cNvCxnSpPr/>
            <p:nvPr/>
          </p:nvCxnSpPr>
          <p:spPr>
            <a:xfrm>
              <a:off x="8140503" y="2674437"/>
              <a:ext cx="356806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 flipH="1">
              <a:off x="8102991" y="2771333"/>
              <a:ext cx="37512" cy="12505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2" name="Connecteur droit 121"/>
            <p:cNvCxnSpPr/>
            <p:nvPr/>
          </p:nvCxnSpPr>
          <p:spPr>
            <a:xfrm>
              <a:off x="8166291" y="2768986"/>
              <a:ext cx="26003" cy="12033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123" name="Connecteur droit avec flèche 122"/>
          <p:cNvCxnSpPr/>
          <p:nvPr/>
        </p:nvCxnSpPr>
        <p:spPr>
          <a:xfrm>
            <a:off x="10575364" y="3435359"/>
            <a:ext cx="64711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Connecteur droit avec flèche 123"/>
          <p:cNvCxnSpPr/>
          <p:nvPr/>
        </p:nvCxnSpPr>
        <p:spPr>
          <a:xfrm>
            <a:off x="10573016" y="3911318"/>
            <a:ext cx="64711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ZoneTexte 57"/>
          <p:cNvSpPr txBox="1"/>
          <p:nvPr/>
        </p:nvSpPr>
        <p:spPr>
          <a:xfrm>
            <a:off x="6409524" y="3194236"/>
            <a:ext cx="514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solidFill>
                  <a:srgbClr val="C00000"/>
                </a:solidFill>
              </a:rPr>
              <a:t>clk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26" name="ZoneTexte 125"/>
          <p:cNvSpPr txBox="1"/>
          <p:nvPr/>
        </p:nvSpPr>
        <p:spPr>
          <a:xfrm>
            <a:off x="10649216" y="2974625"/>
            <a:ext cx="118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</a:rPr>
              <a:t>valeur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127" name="ZoneTexte 126"/>
          <p:cNvSpPr txBox="1"/>
          <p:nvPr/>
        </p:nvSpPr>
        <p:spPr>
          <a:xfrm>
            <a:off x="10649216" y="4102637"/>
            <a:ext cx="151474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</a:rPr>
              <a:t>Interruption</a:t>
            </a:r>
          </a:p>
          <a:p>
            <a:r>
              <a:rPr lang="fr-FR" dirty="0" smtClean="0">
                <a:solidFill>
                  <a:srgbClr val="00B050"/>
                </a:solidFill>
              </a:rPr>
              <a:t>Passage par 0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128" name="ZoneTexte 127"/>
          <p:cNvSpPr txBox="1"/>
          <p:nvPr/>
        </p:nvSpPr>
        <p:spPr>
          <a:xfrm>
            <a:off x="9213012" y="4222620"/>
            <a:ext cx="140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TMR0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398393" y="3343957"/>
            <a:ext cx="773094" cy="499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/</a:t>
            </a:r>
            <a:endParaRPr lang="fr-FR" dirty="0" smtClean="0"/>
          </a:p>
          <a:p>
            <a:pPr algn="ctr"/>
            <a:r>
              <a:rPr lang="fr-FR" sz="1200" dirty="0" err="1" smtClean="0"/>
              <a:t>prescaler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46491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4255" y="119982"/>
            <a:ext cx="10515600" cy="1325563"/>
          </a:xfrm>
        </p:spPr>
        <p:txBody>
          <a:bodyPr/>
          <a:lstStyle/>
          <a:p>
            <a:r>
              <a:rPr lang="fr-FR" dirty="0" smtClean="0"/>
              <a:t>   Exemple1 : TMR0-MODE TIMER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526828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5</a:t>
            </a:fld>
            <a:endParaRPr lang="fr-FR"/>
          </a:p>
        </p:txBody>
      </p:sp>
      <p:cxnSp>
        <p:nvCxnSpPr>
          <p:cNvPr id="60" name="Connecteur droit 59"/>
          <p:cNvCxnSpPr/>
          <p:nvPr/>
        </p:nvCxnSpPr>
        <p:spPr>
          <a:xfrm>
            <a:off x="1394849" y="2081214"/>
            <a:ext cx="41240" cy="367445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012188" y="2081213"/>
            <a:ext cx="2568" cy="328564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H="1">
            <a:off x="2634682" y="2096712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H="1">
            <a:off x="3252025" y="2081214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 flipH="1">
            <a:off x="3887455" y="2081214"/>
            <a:ext cx="18123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4541002" y="2081214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H="1">
            <a:off x="5144131" y="2081214"/>
            <a:ext cx="1302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H="1">
            <a:off x="5764074" y="2081214"/>
            <a:ext cx="16791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Rectangle à coins arrondis 67"/>
          <p:cNvSpPr/>
          <p:nvPr/>
        </p:nvSpPr>
        <p:spPr>
          <a:xfrm>
            <a:off x="1379351" y="333658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70" name="Rectangle à coins arrondis 69"/>
          <p:cNvSpPr/>
          <p:nvPr/>
        </p:nvSpPr>
        <p:spPr>
          <a:xfrm>
            <a:off x="2012198" y="333400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71" name="Rectangle à coins arrondis 70"/>
          <p:cNvSpPr/>
          <p:nvPr/>
        </p:nvSpPr>
        <p:spPr>
          <a:xfrm>
            <a:off x="2647628" y="333400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72" name="Rectangle à coins arrondis 71"/>
          <p:cNvSpPr/>
          <p:nvPr/>
        </p:nvSpPr>
        <p:spPr>
          <a:xfrm>
            <a:off x="3280475" y="333142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73" name="Rectangle à coins arrondis 72"/>
          <p:cNvSpPr/>
          <p:nvPr/>
        </p:nvSpPr>
        <p:spPr>
          <a:xfrm>
            <a:off x="3887498" y="333400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74" name="Rectangle à coins arrondis 73"/>
          <p:cNvSpPr/>
          <p:nvPr/>
        </p:nvSpPr>
        <p:spPr>
          <a:xfrm>
            <a:off x="4520345" y="333142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75" name="Rectangle à coins arrondis 74"/>
          <p:cNvSpPr/>
          <p:nvPr/>
        </p:nvSpPr>
        <p:spPr>
          <a:xfrm>
            <a:off x="5155775" y="333142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sp>
        <p:nvSpPr>
          <p:cNvPr id="76" name="Rectangle à coins arrondis 75"/>
          <p:cNvSpPr/>
          <p:nvPr/>
        </p:nvSpPr>
        <p:spPr>
          <a:xfrm>
            <a:off x="5788622" y="332884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cxnSp>
        <p:nvCxnSpPr>
          <p:cNvPr id="77" name="Connecteur droit 76"/>
          <p:cNvCxnSpPr/>
          <p:nvPr/>
        </p:nvCxnSpPr>
        <p:spPr>
          <a:xfrm flipH="1">
            <a:off x="6383999" y="2094131"/>
            <a:ext cx="29712" cy="32727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Rectangle à coins arrondis 77"/>
          <p:cNvSpPr/>
          <p:nvPr/>
        </p:nvSpPr>
        <p:spPr>
          <a:xfrm>
            <a:off x="8999352" y="333142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79" name="Rectangle à coins arrondis 78"/>
          <p:cNvSpPr/>
          <p:nvPr/>
        </p:nvSpPr>
        <p:spPr>
          <a:xfrm>
            <a:off x="9632199" y="3328843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80" name="Rectangle à coins arrondis 79"/>
          <p:cNvSpPr/>
          <p:nvPr/>
        </p:nvSpPr>
        <p:spPr>
          <a:xfrm>
            <a:off x="10267629" y="3328843"/>
            <a:ext cx="632837" cy="49594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81" name="Rectangle à coins arrondis 80"/>
          <p:cNvSpPr/>
          <p:nvPr/>
        </p:nvSpPr>
        <p:spPr>
          <a:xfrm>
            <a:off x="10900476" y="3341761"/>
            <a:ext cx="63283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>
            <a:off x="9001919" y="2246531"/>
            <a:ext cx="12920" cy="31203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H="1">
            <a:off x="9622812" y="2259449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 flipH="1">
            <a:off x="10253770" y="2305943"/>
            <a:ext cx="13847" cy="344972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H="1">
            <a:off x="10865518" y="2336939"/>
            <a:ext cx="53033" cy="312306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Connecteur droit avec flèche 87"/>
          <p:cNvCxnSpPr/>
          <p:nvPr/>
        </p:nvCxnSpPr>
        <p:spPr>
          <a:xfrm>
            <a:off x="1394846" y="502589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/>
          <p:nvPr/>
        </p:nvCxnSpPr>
        <p:spPr>
          <a:xfrm>
            <a:off x="2012196" y="502331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2647625" y="502331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3264975" y="502073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8487" y="502331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4535837" y="502073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>
            <a:off x="5171266" y="502073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>
            <a:off x="5788616" y="501815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>
            <a:off x="8986428" y="5069812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/>
          <p:nvPr/>
        </p:nvCxnSpPr>
        <p:spPr>
          <a:xfrm>
            <a:off x="9603778" y="5067232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/>
          <p:cNvCxnSpPr/>
          <p:nvPr/>
        </p:nvCxnSpPr>
        <p:spPr>
          <a:xfrm>
            <a:off x="10239207" y="506723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>
            <a:off x="10856557" y="506465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1807147" y="441832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1" name="ZoneTexte 100"/>
          <p:cNvSpPr txBox="1"/>
          <p:nvPr/>
        </p:nvSpPr>
        <p:spPr>
          <a:xfrm>
            <a:off x="2435735" y="436659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2" name="ZoneTexte 101"/>
          <p:cNvSpPr txBox="1"/>
          <p:nvPr/>
        </p:nvSpPr>
        <p:spPr>
          <a:xfrm>
            <a:off x="3033636" y="4394709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3" name="ZoneTexte 102"/>
          <p:cNvSpPr txBox="1"/>
          <p:nvPr/>
        </p:nvSpPr>
        <p:spPr>
          <a:xfrm>
            <a:off x="3682441" y="438270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4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4" name="ZoneTexte 103"/>
          <p:cNvSpPr txBox="1"/>
          <p:nvPr/>
        </p:nvSpPr>
        <p:spPr>
          <a:xfrm>
            <a:off x="4363390" y="438270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5" name="ZoneTexte 104"/>
          <p:cNvSpPr txBox="1"/>
          <p:nvPr/>
        </p:nvSpPr>
        <p:spPr>
          <a:xfrm>
            <a:off x="4950723" y="4378218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6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6" name="ZoneTexte 105"/>
          <p:cNvSpPr txBox="1"/>
          <p:nvPr/>
        </p:nvSpPr>
        <p:spPr>
          <a:xfrm>
            <a:off x="5575092" y="4377604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7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7" name="ZoneTexte 106"/>
          <p:cNvSpPr txBox="1"/>
          <p:nvPr/>
        </p:nvSpPr>
        <p:spPr>
          <a:xfrm>
            <a:off x="6196078" y="4387433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8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8" name="ZoneTexte 107"/>
          <p:cNvSpPr txBox="1"/>
          <p:nvPr/>
        </p:nvSpPr>
        <p:spPr>
          <a:xfrm>
            <a:off x="9388988" y="4162533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255µs</a:t>
            </a:r>
            <a:endParaRPr lang="fr-FR" dirty="0"/>
          </a:p>
        </p:txBody>
      </p:sp>
      <p:sp>
        <p:nvSpPr>
          <p:cNvPr id="109" name="ZoneTexte 108"/>
          <p:cNvSpPr txBox="1"/>
          <p:nvPr/>
        </p:nvSpPr>
        <p:spPr>
          <a:xfrm>
            <a:off x="10007982" y="4169932"/>
            <a:ext cx="558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256µs</a:t>
            </a:r>
            <a:endParaRPr lang="fr-FR" dirty="0"/>
          </a:p>
        </p:txBody>
      </p:sp>
      <p:sp>
        <p:nvSpPr>
          <p:cNvPr id="110" name="ZoneTexte 109"/>
          <p:cNvSpPr txBox="1"/>
          <p:nvPr/>
        </p:nvSpPr>
        <p:spPr>
          <a:xfrm>
            <a:off x="10622778" y="4185356"/>
            <a:ext cx="558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257µs</a:t>
            </a:r>
            <a:endParaRPr lang="fr-FR" dirty="0"/>
          </a:p>
        </p:txBody>
      </p:sp>
      <p:sp>
        <p:nvSpPr>
          <p:cNvPr id="111" name="ZoneTexte 110"/>
          <p:cNvSpPr txBox="1"/>
          <p:nvPr/>
        </p:nvSpPr>
        <p:spPr>
          <a:xfrm>
            <a:off x="11300511" y="4169932"/>
            <a:ext cx="558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258µs</a:t>
            </a:r>
            <a:endParaRPr lang="fr-FR" dirty="0"/>
          </a:p>
        </p:txBody>
      </p:sp>
      <p:sp>
        <p:nvSpPr>
          <p:cNvPr id="134" name="ZoneTexte 133"/>
          <p:cNvSpPr txBox="1"/>
          <p:nvPr/>
        </p:nvSpPr>
        <p:spPr>
          <a:xfrm>
            <a:off x="123986" y="2381582"/>
            <a:ext cx="71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CLK</a:t>
            </a:r>
            <a:endParaRPr lang="fr-FR" dirty="0"/>
          </a:p>
        </p:txBody>
      </p:sp>
      <p:sp>
        <p:nvSpPr>
          <p:cNvPr id="135" name="ZoneTexte 134"/>
          <p:cNvSpPr txBox="1"/>
          <p:nvPr/>
        </p:nvSpPr>
        <p:spPr>
          <a:xfrm>
            <a:off x="43901" y="3367056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TMR0</a:t>
            </a:r>
            <a:endParaRPr lang="fr-FR" dirty="0"/>
          </a:p>
        </p:txBody>
      </p:sp>
      <p:sp>
        <p:nvSpPr>
          <p:cNvPr id="136" name="ZoneTexte 135"/>
          <p:cNvSpPr txBox="1"/>
          <p:nvPr/>
        </p:nvSpPr>
        <p:spPr>
          <a:xfrm>
            <a:off x="26431" y="4695319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temps</a:t>
            </a:r>
            <a:endParaRPr lang="fr-FR" dirty="0"/>
          </a:p>
        </p:txBody>
      </p:sp>
      <p:cxnSp>
        <p:nvCxnSpPr>
          <p:cNvPr id="7" name="Connecteur en angle 6"/>
          <p:cNvCxnSpPr/>
          <p:nvPr/>
        </p:nvCxnSpPr>
        <p:spPr>
          <a:xfrm>
            <a:off x="1394846" y="240740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en angle 14"/>
          <p:cNvCxnSpPr/>
          <p:nvPr/>
        </p:nvCxnSpPr>
        <p:spPr>
          <a:xfrm rot="5400000">
            <a:off x="1045848" y="2445143"/>
            <a:ext cx="386739" cy="311257"/>
          </a:xfrm>
          <a:prstGeom prst="bentConnector3">
            <a:avLst>
              <a:gd name="adj1" fmla="val 98089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V="1">
            <a:off x="2014779" y="240740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/>
          <p:nvPr/>
        </p:nvCxnSpPr>
        <p:spPr>
          <a:xfrm>
            <a:off x="2012190" y="240482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2632127" y="240482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en angle 34"/>
          <p:cNvCxnSpPr/>
          <p:nvPr/>
        </p:nvCxnSpPr>
        <p:spPr>
          <a:xfrm>
            <a:off x="2629538" y="240224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V="1">
            <a:off x="3264972" y="240224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en angle 36"/>
          <p:cNvCxnSpPr/>
          <p:nvPr/>
        </p:nvCxnSpPr>
        <p:spPr>
          <a:xfrm>
            <a:off x="3277881" y="239966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3913315" y="241515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ngle 38"/>
          <p:cNvCxnSpPr/>
          <p:nvPr/>
        </p:nvCxnSpPr>
        <p:spPr>
          <a:xfrm>
            <a:off x="3926224" y="241257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538417" y="238932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40"/>
          <p:cNvCxnSpPr/>
          <p:nvPr/>
        </p:nvCxnSpPr>
        <p:spPr>
          <a:xfrm>
            <a:off x="4535828" y="238674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5155765" y="238674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en angle 42"/>
          <p:cNvCxnSpPr/>
          <p:nvPr/>
        </p:nvCxnSpPr>
        <p:spPr>
          <a:xfrm>
            <a:off x="5153176" y="238416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V="1">
            <a:off x="5788610" y="238416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en angle 44"/>
          <p:cNvCxnSpPr/>
          <p:nvPr/>
        </p:nvCxnSpPr>
        <p:spPr>
          <a:xfrm>
            <a:off x="5801519" y="238158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 flipV="1">
            <a:off x="6436953" y="239708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en angle 46"/>
          <p:cNvCxnSpPr/>
          <p:nvPr/>
        </p:nvCxnSpPr>
        <p:spPr>
          <a:xfrm>
            <a:off x="6449862" y="239450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9017430" y="240482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en angle 48"/>
          <p:cNvCxnSpPr/>
          <p:nvPr/>
        </p:nvCxnSpPr>
        <p:spPr>
          <a:xfrm>
            <a:off x="9014841" y="240224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V="1">
            <a:off x="9634778" y="240224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en angle 50"/>
          <p:cNvCxnSpPr/>
          <p:nvPr/>
        </p:nvCxnSpPr>
        <p:spPr>
          <a:xfrm>
            <a:off x="9632189" y="239966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V="1">
            <a:off x="10267623" y="239966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en angle 52"/>
          <p:cNvCxnSpPr/>
          <p:nvPr/>
        </p:nvCxnSpPr>
        <p:spPr>
          <a:xfrm>
            <a:off x="10280532" y="239708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10915966" y="241257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en angle 54"/>
          <p:cNvCxnSpPr/>
          <p:nvPr/>
        </p:nvCxnSpPr>
        <p:spPr>
          <a:xfrm>
            <a:off x="10928875" y="240999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7116289" y="2536562"/>
            <a:ext cx="2399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  .    .    .    .    .    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6870" y="1028983"/>
            <a:ext cx="11666354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2788" lvl="1">
              <a:spcBef>
                <a:spcPts val="1000"/>
              </a:spcBef>
            </a:pPr>
            <a:r>
              <a:rPr lang="fr-FR" dirty="0">
                <a:cs typeface="Times New Roman" pitchFamily="18" charset="0"/>
              </a:rPr>
              <a:t>On suppose que :</a:t>
            </a:r>
          </a:p>
          <a:p>
            <a:pPr marL="998538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dirty="0">
                <a:cs typeface="Times New Roman" pitchFamily="18" charset="0"/>
              </a:rPr>
              <a:t>Fréquence du µc = 4MHZ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 Cycle = 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4/F = 1µs, On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n’a pas un </a:t>
            </a:r>
            <a:r>
              <a:rPr lang="fr-FR" dirty="0" err="1" smtClean="0">
                <a:cs typeface="Times New Roman" pitchFamily="18" charset="0"/>
                <a:sym typeface="Wingdings" panose="05000000000000000000" pitchFamily="2" charset="2"/>
              </a:rPr>
              <a:t>prédiviseur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 : </a:t>
            </a:r>
            <a:r>
              <a:rPr lang="fr-FR" dirty="0" err="1" smtClean="0">
                <a:cs typeface="Times New Roman" pitchFamily="18" charset="0"/>
                <a:sym typeface="Wingdings" panose="05000000000000000000" pitchFamily="2" charset="2"/>
              </a:rPr>
              <a:t>prédiviseur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 = 1, TMR0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= 0 </a:t>
            </a:r>
            <a:endParaRPr lang="fr-FR" dirty="0">
              <a:cs typeface="Times New Roman" pitchFamily="18" charset="0"/>
            </a:endParaRPr>
          </a:p>
        </p:txBody>
      </p:sp>
      <p:sp>
        <p:nvSpPr>
          <p:cNvPr id="138" name="Rectangle à coins arrondis 137"/>
          <p:cNvSpPr/>
          <p:nvPr/>
        </p:nvSpPr>
        <p:spPr>
          <a:xfrm>
            <a:off x="258309" y="6113679"/>
            <a:ext cx="11290499" cy="622597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Le TMR0 génère une interruption  chaque </a:t>
            </a:r>
            <a:r>
              <a:rPr lang="fr-FR" sz="2400" b="1" dirty="0" smtClean="0">
                <a:solidFill>
                  <a:srgbClr val="C00000"/>
                </a:solidFill>
              </a:rPr>
              <a:t>256* cycle * </a:t>
            </a:r>
            <a:r>
              <a:rPr lang="fr-FR" sz="2400" b="1" dirty="0" err="1" smtClean="0">
                <a:solidFill>
                  <a:srgbClr val="C00000"/>
                </a:solidFill>
              </a:rPr>
              <a:t>prédiviseur</a:t>
            </a:r>
            <a:r>
              <a:rPr lang="fr-FR" sz="2400" b="1" dirty="0" smtClean="0">
                <a:solidFill>
                  <a:srgbClr val="C00000"/>
                </a:solidFill>
              </a:rPr>
              <a:t> </a:t>
            </a:r>
            <a:r>
              <a:rPr lang="fr-FR" sz="2400" b="1" dirty="0" smtClean="0"/>
              <a:t>: 256*1*1 =256µs</a:t>
            </a:r>
            <a:endParaRPr lang="fr-FR" sz="2400" b="1" dirty="0"/>
          </a:p>
        </p:txBody>
      </p:sp>
      <p:cxnSp>
        <p:nvCxnSpPr>
          <p:cNvPr id="144" name="Connecteur droit avec flèche 143"/>
          <p:cNvCxnSpPr/>
          <p:nvPr/>
        </p:nvCxnSpPr>
        <p:spPr>
          <a:xfrm flipH="1">
            <a:off x="10268670" y="2081213"/>
            <a:ext cx="11862" cy="12476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ZoneTexte 145"/>
          <p:cNvSpPr txBox="1"/>
          <p:nvPr/>
        </p:nvSpPr>
        <p:spPr>
          <a:xfrm>
            <a:off x="10481691" y="1811930"/>
            <a:ext cx="157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47" name="ZoneTexte 146"/>
          <p:cNvSpPr txBox="1"/>
          <p:nvPr/>
        </p:nvSpPr>
        <p:spPr>
          <a:xfrm>
            <a:off x="1171723" y="441593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48" name="ZoneTexte 147"/>
          <p:cNvSpPr txBox="1"/>
          <p:nvPr/>
        </p:nvSpPr>
        <p:spPr>
          <a:xfrm>
            <a:off x="8741263" y="4169932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254µs</a:t>
            </a:r>
            <a:endParaRPr lang="fr-FR" dirty="0"/>
          </a:p>
        </p:txBody>
      </p:sp>
      <p:sp>
        <p:nvSpPr>
          <p:cNvPr id="152" name="ZoneTexte 151"/>
          <p:cNvSpPr txBox="1"/>
          <p:nvPr/>
        </p:nvSpPr>
        <p:spPr>
          <a:xfrm>
            <a:off x="-40224" y="5366859"/>
            <a:ext cx="121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Nb d’interruption</a:t>
            </a:r>
            <a:endParaRPr lang="fr-FR" sz="1400" dirty="0"/>
          </a:p>
        </p:txBody>
      </p:sp>
      <p:sp>
        <p:nvSpPr>
          <p:cNvPr id="157" name="Rectangle à coins arrondis 156"/>
          <p:cNvSpPr/>
          <p:nvPr/>
        </p:nvSpPr>
        <p:spPr>
          <a:xfrm>
            <a:off x="1456801" y="5648053"/>
            <a:ext cx="8782406" cy="30057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58" name="Rectangle à coins arrondis 157"/>
          <p:cNvSpPr/>
          <p:nvPr/>
        </p:nvSpPr>
        <p:spPr>
          <a:xfrm>
            <a:off x="10245516" y="5648053"/>
            <a:ext cx="1839423" cy="30994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30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1" grpId="0" animBg="1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56" grpId="0"/>
      <p:bldP spid="138" grpId="0" animBg="1"/>
      <p:bldP spid="146" grpId="0"/>
      <p:bldP spid="147" grpId="0"/>
      <p:bldP spid="148" grpId="0"/>
      <p:bldP spid="157" grpId="0" animBg="1"/>
      <p:bldP spid="1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Connecteur droit 138"/>
          <p:cNvCxnSpPr/>
          <p:nvPr/>
        </p:nvCxnSpPr>
        <p:spPr>
          <a:xfrm flipH="1">
            <a:off x="11756406" y="2138600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 flipH="1">
            <a:off x="11135513" y="2125682"/>
            <a:ext cx="12920" cy="31203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3" name="Connecteur droit 112"/>
          <p:cNvCxnSpPr/>
          <p:nvPr/>
        </p:nvCxnSpPr>
        <p:spPr>
          <a:xfrm flipH="1">
            <a:off x="10703675" y="2126875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 flipH="1">
            <a:off x="8833251" y="2189785"/>
            <a:ext cx="41662" cy="315405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H="1">
            <a:off x="9472814" y="2220781"/>
            <a:ext cx="53033" cy="312306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H="1">
            <a:off x="8230108" y="2143291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4255" y="119982"/>
            <a:ext cx="10515600" cy="1325563"/>
          </a:xfrm>
        </p:spPr>
        <p:txBody>
          <a:bodyPr/>
          <a:lstStyle/>
          <a:p>
            <a:r>
              <a:rPr lang="fr-FR" dirty="0" smtClean="0"/>
              <a:t>   Exemple2 : TMR0-MODE TIMER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526828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6</a:t>
            </a:fld>
            <a:endParaRPr lang="fr-FR"/>
          </a:p>
        </p:txBody>
      </p:sp>
      <p:cxnSp>
        <p:nvCxnSpPr>
          <p:cNvPr id="60" name="Connecteur droit 59"/>
          <p:cNvCxnSpPr/>
          <p:nvPr/>
        </p:nvCxnSpPr>
        <p:spPr>
          <a:xfrm flipH="1">
            <a:off x="1386421" y="1965056"/>
            <a:ext cx="8428" cy="368299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012188" y="1965055"/>
            <a:ext cx="2568" cy="328564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H="1">
            <a:off x="2634682" y="1980554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H="1">
            <a:off x="3252025" y="1965056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 flipH="1">
            <a:off x="3887455" y="1965056"/>
            <a:ext cx="18123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4541002" y="1965056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H="1">
            <a:off x="5144131" y="1965056"/>
            <a:ext cx="1302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H="1">
            <a:off x="5764074" y="1965056"/>
            <a:ext cx="16791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Rectangle à coins arrondis 67"/>
          <p:cNvSpPr/>
          <p:nvPr/>
        </p:nvSpPr>
        <p:spPr>
          <a:xfrm>
            <a:off x="1379351" y="3220425"/>
            <a:ext cx="2501976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73" name="Rectangle à coins arrondis 72"/>
          <p:cNvSpPr/>
          <p:nvPr/>
        </p:nvSpPr>
        <p:spPr>
          <a:xfrm>
            <a:off x="3887498" y="3217845"/>
            <a:ext cx="2511281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cxnSp>
        <p:nvCxnSpPr>
          <p:cNvPr id="77" name="Connecteur droit 76"/>
          <p:cNvCxnSpPr/>
          <p:nvPr/>
        </p:nvCxnSpPr>
        <p:spPr>
          <a:xfrm flipH="1">
            <a:off x="6383999" y="1977973"/>
            <a:ext cx="29712" cy="32727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Rectangle à coins arrondis 77"/>
          <p:cNvSpPr/>
          <p:nvPr/>
        </p:nvSpPr>
        <p:spPr>
          <a:xfrm>
            <a:off x="7606648" y="3215265"/>
            <a:ext cx="2485505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80" name="Rectangle à coins arrondis 79"/>
          <p:cNvSpPr/>
          <p:nvPr/>
        </p:nvSpPr>
        <p:spPr>
          <a:xfrm>
            <a:off x="10098281" y="3198951"/>
            <a:ext cx="2040125" cy="49594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>
            <a:off x="7609215" y="2130373"/>
            <a:ext cx="12920" cy="31203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Connecteur droit avec flèche 87"/>
          <p:cNvCxnSpPr/>
          <p:nvPr/>
        </p:nvCxnSpPr>
        <p:spPr>
          <a:xfrm>
            <a:off x="1394846" y="490974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/>
          <p:nvPr/>
        </p:nvCxnSpPr>
        <p:spPr>
          <a:xfrm>
            <a:off x="2012196" y="490716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2647625" y="490715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3264975" y="490457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8487" y="490716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4535837" y="490458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>
            <a:off x="5171266" y="490457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>
            <a:off x="5788616" y="490199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>
            <a:off x="7593724" y="495365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/>
          <p:nvPr/>
        </p:nvCxnSpPr>
        <p:spPr>
          <a:xfrm>
            <a:off x="8211074" y="495107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/>
          <p:cNvCxnSpPr/>
          <p:nvPr/>
        </p:nvCxnSpPr>
        <p:spPr>
          <a:xfrm>
            <a:off x="8846503" y="495107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>
            <a:off x="9463853" y="494849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1821657" y="422696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1" name="ZoneTexte 100"/>
          <p:cNvSpPr txBox="1"/>
          <p:nvPr/>
        </p:nvSpPr>
        <p:spPr>
          <a:xfrm>
            <a:off x="2408012" y="420888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2" name="ZoneTexte 101"/>
          <p:cNvSpPr txBox="1"/>
          <p:nvPr/>
        </p:nvSpPr>
        <p:spPr>
          <a:xfrm>
            <a:off x="3074455" y="4208881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3" name="ZoneTexte 102"/>
          <p:cNvSpPr txBox="1"/>
          <p:nvPr/>
        </p:nvSpPr>
        <p:spPr>
          <a:xfrm>
            <a:off x="3709882" y="420888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4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4" name="ZoneTexte 103"/>
          <p:cNvSpPr txBox="1"/>
          <p:nvPr/>
        </p:nvSpPr>
        <p:spPr>
          <a:xfrm>
            <a:off x="4348773" y="420888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5" name="ZoneTexte 104"/>
          <p:cNvSpPr txBox="1"/>
          <p:nvPr/>
        </p:nvSpPr>
        <p:spPr>
          <a:xfrm>
            <a:off x="4924020" y="420495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6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6" name="ZoneTexte 105"/>
          <p:cNvSpPr txBox="1"/>
          <p:nvPr/>
        </p:nvSpPr>
        <p:spPr>
          <a:xfrm>
            <a:off x="5575824" y="419080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7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7" name="ZoneTexte 106"/>
          <p:cNvSpPr txBox="1"/>
          <p:nvPr/>
        </p:nvSpPr>
        <p:spPr>
          <a:xfrm>
            <a:off x="6210432" y="419080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8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8" name="ZoneTexte 107"/>
          <p:cNvSpPr txBox="1"/>
          <p:nvPr/>
        </p:nvSpPr>
        <p:spPr>
          <a:xfrm>
            <a:off x="7869412" y="3974442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1021µs</a:t>
            </a:r>
            <a:endParaRPr lang="fr-FR" dirty="0"/>
          </a:p>
        </p:txBody>
      </p:sp>
      <p:sp>
        <p:nvSpPr>
          <p:cNvPr id="109" name="ZoneTexte 108"/>
          <p:cNvSpPr txBox="1"/>
          <p:nvPr/>
        </p:nvSpPr>
        <p:spPr>
          <a:xfrm>
            <a:off x="8528397" y="3986410"/>
            <a:ext cx="656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1022µs</a:t>
            </a:r>
            <a:endParaRPr lang="fr-FR" dirty="0"/>
          </a:p>
        </p:txBody>
      </p:sp>
      <p:sp>
        <p:nvSpPr>
          <p:cNvPr id="110" name="ZoneTexte 109"/>
          <p:cNvSpPr txBox="1"/>
          <p:nvPr/>
        </p:nvSpPr>
        <p:spPr>
          <a:xfrm>
            <a:off x="9162872" y="3972652"/>
            <a:ext cx="654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1023µs</a:t>
            </a:r>
            <a:endParaRPr lang="fr-FR" dirty="0"/>
          </a:p>
        </p:txBody>
      </p:sp>
      <p:sp>
        <p:nvSpPr>
          <p:cNvPr id="111" name="ZoneTexte 110"/>
          <p:cNvSpPr txBox="1"/>
          <p:nvPr/>
        </p:nvSpPr>
        <p:spPr>
          <a:xfrm>
            <a:off x="9766018" y="3986410"/>
            <a:ext cx="662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1024µs</a:t>
            </a:r>
            <a:endParaRPr lang="fr-FR" dirty="0"/>
          </a:p>
        </p:txBody>
      </p:sp>
      <p:sp>
        <p:nvSpPr>
          <p:cNvPr id="134" name="ZoneTexte 133"/>
          <p:cNvSpPr txBox="1"/>
          <p:nvPr/>
        </p:nvSpPr>
        <p:spPr>
          <a:xfrm>
            <a:off x="123986" y="2265424"/>
            <a:ext cx="71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CLK</a:t>
            </a:r>
            <a:endParaRPr lang="fr-FR" dirty="0"/>
          </a:p>
        </p:txBody>
      </p:sp>
      <p:sp>
        <p:nvSpPr>
          <p:cNvPr id="135" name="ZoneTexte 134"/>
          <p:cNvSpPr txBox="1"/>
          <p:nvPr/>
        </p:nvSpPr>
        <p:spPr>
          <a:xfrm>
            <a:off x="43901" y="3250898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TMR0</a:t>
            </a:r>
            <a:endParaRPr lang="fr-FR" dirty="0"/>
          </a:p>
        </p:txBody>
      </p:sp>
      <p:sp>
        <p:nvSpPr>
          <p:cNvPr id="136" name="ZoneTexte 135"/>
          <p:cNvSpPr txBox="1"/>
          <p:nvPr/>
        </p:nvSpPr>
        <p:spPr>
          <a:xfrm>
            <a:off x="26431" y="4579161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temps</a:t>
            </a:r>
            <a:endParaRPr lang="fr-FR" dirty="0"/>
          </a:p>
        </p:txBody>
      </p:sp>
      <p:cxnSp>
        <p:nvCxnSpPr>
          <p:cNvPr id="7" name="Connecteur en angle 6"/>
          <p:cNvCxnSpPr/>
          <p:nvPr/>
        </p:nvCxnSpPr>
        <p:spPr>
          <a:xfrm>
            <a:off x="1394846" y="229124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en angle 14"/>
          <p:cNvCxnSpPr/>
          <p:nvPr/>
        </p:nvCxnSpPr>
        <p:spPr>
          <a:xfrm rot="5400000">
            <a:off x="1045848" y="2328985"/>
            <a:ext cx="386739" cy="311257"/>
          </a:xfrm>
          <a:prstGeom prst="bentConnector3">
            <a:avLst>
              <a:gd name="adj1" fmla="val 98089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V="1">
            <a:off x="2014779" y="229124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/>
          <p:nvPr/>
        </p:nvCxnSpPr>
        <p:spPr>
          <a:xfrm>
            <a:off x="2012190" y="228866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2632127" y="228866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en angle 34"/>
          <p:cNvCxnSpPr/>
          <p:nvPr/>
        </p:nvCxnSpPr>
        <p:spPr>
          <a:xfrm>
            <a:off x="2629538" y="228608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V="1">
            <a:off x="3264972" y="228608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en angle 36"/>
          <p:cNvCxnSpPr/>
          <p:nvPr/>
        </p:nvCxnSpPr>
        <p:spPr>
          <a:xfrm>
            <a:off x="3277881" y="228350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3913315" y="229900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ngle 38"/>
          <p:cNvCxnSpPr/>
          <p:nvPr/>
        </p:nvCxnSpPr>
        <p:spPr>
          <a:xfrm>
            <a:off x="3926224" y="229642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538417" y="2273166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40"/>
          <p:cNvCxnSpPr/>
          <p:nvPr/>
        </p:nvCxnSpPr>
        <p:spPr>
          <a:xfrm>
            <a:off x="4535828" y="2270586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5155765" y="2270586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en angle 42"/>
          <p:cNvCxnSpPr/>
          <p:nvPr/>
        </p:nvCxnSpPr>
        <p:spPr>
          <a:xfrm>
            <a:off x="5153176" y="2268006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V="1">
            <a:off x="5788610" y="226800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en angle 44"/>
          <p:cNvCxnSpPr/>
          <p:nvPr/>
        </p:nvCxnSpPr>
        <p:spPr>
          <a:xfrm>
            <a:off x="5801519" y="226542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 flipV="1">
            <a:off x="6436953" y="228092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en angle 46"/>
          <p:cNvCxnSpPr/>
          <p:nvPr/>
        </p:nvCxnSpPr>
        <p:spPr>
          <a:xfrm>
            <a:off x="6449862" y="227834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7624726" y="228866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en angle 48"/>
          <p:cNvCxnSpPr/>
          <p:nvPr/>
        </p:nvCxnSpPr>
        <p:spPr>
          <a:xfrm>
            <a:off x="7622137" y="228608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V="1">
            <a:off x="8242074" y="228608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en angle 50"/>
          <p:cNvCxnSpPr/>
          <p:nvPr/>
        </p:nvCxnSpPr>
        <p:spPr>
          <a:xfrm>
            <a:off x="8239485" y="228350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V="1">
            <a:off x="8874919" y="228350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en angle 52"/>
          <p:cNvCxnSpPr/>
          <p:nvPr/>
        </p:nvCxnSpPr>
        <p:spPr>
          <a:xfrm>
            <a:off x="8887828" y="228092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9523262" y="229642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en angle 54"/>
          <p:cNvCxnSpPr/>
          <p:nvPr/>
        </p:nvCxnSpPr>
        <p:spPr>
          <a:xfrm>
            <a:off x="9536171" y="229384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7116289" y="2420404"/>
            <a:ext cx="2399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  .   </a:t>
            </a: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72052" y="1056716"/>
            <a:ext cx="11666354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2788" lvl="1">
              <a:spcBef>
                <a:spcPts val="1000"/>
              </a:spcBef>
            </a:pPr>
            <a:r>
              <a:rPr lang="fr-FR" dirty="0">
                <a:cs typeface="Times New Roman" pitchFamily="18" charset="0"/>
              </a:rPr>
              <a:t>On suppose que :</a:t>
            </a:r>
          </a:p>
          <a:p>
            <a:pPr marL="998538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dirty="0">
                <a:cs typeface="Times New Roman" pitchFamily="18" charset="0"/>
              </a:rPr>
              <a:t>Fréquence du µc = </a:t>
            </a:r>
            <a:r>
              <a:rPr lang="fr-FR" dirty="0" smtClean="0">
                <a:cs typeface="Times New Roman" pitchFamily="18" charset="0"/>
              </a:rPr>
              <a:t>4MHZ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 Cycle = 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1µs, Le </a:t>
            </a:r>
            <a:r>
              <a:rPr lang="fr-FR" b="1" dirty="0" err="1" smtClean="0">
                <a:cs typeface="Times New Roman" pitchFamily="18" charset="0"/>
                <a:sym typeface="Wingdings" panose="05000000000000000000" pitchFamily="2" charset="2"/>
              </a:rPr>
              <a:t>prédiviseur</a:t>
            </a:r>
            <a:r>
              <a:rPr lang="fr-FR" b="1" dirty="0" smtClean="0">
                <a:cs typeface="Times New Roman" pitchFamily="18" charset="0"/>
                <a:sym typeface="Wingdings" panose="05000000000000000000" pitchFamily="2" charset="2"/>
              </a:rPr>
              <a:t> = 4 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,TMR0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= 0 </a:t>
            </a:r>
            <a:endParaRPr lang="fr-FR" dirty="0">
              <a:cs typeface="Times New Roman" pitchFamily="18" charset="0"/>
            </a:endParaRPr>
          </a:p>
        </p:txBody>
      </p:sp>
      <p:cxnSp>
        <p:nvCxnSpPr>
          <p:cNvPr id="116" name="Connecteur droit 115"/>
          <p:cNvCxnSpPr/>
          <p:nvPr/>
        </p:nvCxnSpPr>
        <p:spPr>
          <a:xfrm>
            <a:off x="10095702" y="2113957"/>
            <a:ext cx="14434" cy="3514512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Connecteur droit avec flèche 117"/>
          <p:cNvCxnSpPr/>
          <p:nvPr/>
        </p:nvCxnSpPr>
        <p:spPr>
          <a:xfrm>
            <a:off x="10067291" y="493723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18"/>
          <p:cNvCxnSpPr/>
          <p:nvPr/>
        </p:nvCxnSpPr>
        <p:spPr>
          <a:xfrm>
            <a:off x="10684641" y="493465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ZoneTexte 121"/>
          <p:cNvSpPr txBox="1"/>
          <p:nvPr/>
        </p:nvSpPr>
        <p:spPr>
          <a:xfrm>
            <a:off x="10425637" y="3987878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1025µs</a:t>
            </a:r>
            <a:endParaRPr lang="fr-FR" dirty="0"/>
          </a:p>
        </p:txBody>
      </p:sp>
      <p:sp>
        <p:nvSpPr>
          <p:cNvPr id="123" name="ZoneTexte 122"/>
          <p:cNvSpPr txBox="1"/>
          <p:nvPr/>
        </p:nvSpPr>
        <p:spPr>
          <a:xfrm>
            <a:off x="11001964" y="3969994"/>
            <a:ext cx="704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1026µs</a:t>
            </a:r>
            <a:endParaRPr lang="fr-FR" dirty="0"/>
          </a:p>
        </p:txBody>
      </p:sp>
      <p:cxnSp>
        <p:nvCxnSpPr>
          <p:cNvPr id="126" name="Connecteur droit 125"/>
          <p:cNvCxnSpPr/>
          <p:nvPr/>
        </p:nvCxnSpPr>
        <p:spPr>
          <a:xfrm flipV="1">
            <a:off x="10098293" y="227224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en angle 126"/>
          <p:cNvCxnSpPr/>
          <p:nvPr/>
        </p:nvCxnSpPr>
        <p:spPr>
          <a:xfrm>
            <a:off x="10095704" y="226966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V="1">
            <a:off x="10715641" y="226966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en angle 128"/>
          <p:cNvCxnSpPr/>
          <p:nvPr/>
        </p:nvCxnSpPr>
        <p:spPr>
          <a:xfrm>
            <a:off x="10713052" y="226708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à coins arrondis 137"/>
          <p:cNvSpPr/>
          <p:nvPr/>
        </p:nvSpPr>
        <p:spPr>
          <a:xfrm>
            <a:off x="539664" y="6113679"/>
            <a:ext cx="11090171" cy="622597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Le TMR0 </a:t>
            </a:r>
            <a:r>
              <a:rPr lang="fr-FR" sz="2400" b="1" dirty="0"/>
              <a:t>génère une interruption  </a:t>
            </a:r>
            <a:r>
              <a:rPr lang="fr-FR" sz="2400" b="1" dirty="0" smtClean="0"/>
              <a:t>chaque </a:t>
            </a:r>
            <a:r>
              <a:rPr lang="fr-FR" sz="2400" b="1" dirty="0" smtClean="0">
                <a:solidFill>
                  <a:srgbClr val="C00000"/>
                </a:solidFill>
              </a:rPr>
              <a:t>256* cycle * </a:t>
            </a:r>
            <a:r>
              <a:rPr lang="fr-FR" sz="2400" b="1" dirty="0" err="1" smtClean="0">
                <a:solidFill>
                  <a:srgbClr val="C00000"/>
                </a:solidFill>
              </a:rPr>
              <a:t>prédiviseur</a:t>
            </a:r>
            <a:r>
              <a:rPr lang="fr-FR" sz="2400" b="1" dirty="0" smtClean="0">
                <a:solidFill>
                  <a:srgbClr val="C00000"/>
                </a:solidFill>
              </a:rPr>
              <a:t> </a:t>
            </a:r>
            <a:r>
              <a:rPr lang="fr-FR" sz="2400" b="1" dirty="0" smtClean="0"/>
              <a:t>: 256*1*4 =1024µs</a:t>
            </a:r>
            <a:endParaRPr lang="fr-FR" sz="2400" b="1" dirty="0"/>
          </a:p>
        </p:txBody>
      </p:sp>
      <p:cxnSp>
        <p:nvCxnSpPr>
          <p:cNvPr id="141" name="Connecteur droit avec flèche 140"/>
          <p:cNvCxnSpPr/>
          <p:nvPr/>
        </p:nvCxnSpPr>
        <p:spPr>
          <a:xfrm>
            <a:off x="11120022" y="494896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/>
          <p:cNvCxnSpPr/>
          <p:nvPr/>
        </p:nvCxnSpPr>
        <p:spPr>
          <a:xfrm>
            <a:off x="11737372" y="494638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ZoneTexte 142"/>
          <p:cNvSpPr txBox="1"/>
          <p:nvPr/>
        </p:nvSpPr>
        <p:spPr>
          <a:xfrm>
            <a:off x="11604295" y="3974442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1027µs</a:t>
            </a:r>
            <a:endParaRPr lang="fr-FR" dirty="0"/>
          </a:p>
        </p:txBody>
      </p:sp>
      <p:cxnSp>
        <p:nvCxnSpPr>
          <p:cNvPr id="145" name="Connecteur droit 144"/>
          <p:cNvCxnSpPr/>
          <p:nvPr/>
        </p:nvCxnSpPr>
        <p:spPr>
          <a:xfrm flipV="1">
            <a:off x="11151024" y="2283973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en angle 145"/>
          <p:cNvCxnSpPr/>
          <p:nvPr/>
        </p:nvCxnSpPr>
        <p:spPr>
          <a:xfrm>
            <a:off x="11148435" y="2281393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 flipV="1">
            <a:off x="11768372" y="2281393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en angle 147"/>
          <p:cNvCxnSpPr/>
          <p:nvPr/>
        </p:nvCxnSpPr>
        <p:spPr>
          <a:xfrm>
            <a:off x="11765783" y="2278813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avec flèche 148"/>
          <p:cNvCxnSpPr/>
          <p:nvPr/>
        </p:nvCxnSpPr>
        <p:spPr>
          <a:xfrm flipH="1">
            <a:off x="10099854" y="1521589"/>
            <a:ext cx="8722" cy="1687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ZoneTexte 149"/>
          <p:cNvSpPr txBox="1"/>
          <p:nvPr/>
        </p:nvSpPr>
        <p:spPr>
          <a:xfrm>
            <a:off x="10043582" y="1226168"/>
            <a:ext cx="157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51" name="ZoneTexte 150"/>
          <p:cNvSpPr txBox="1"/>
          <p:nvPr/>
        </p:nvSpPr>
        <p:spPr>
          <a:xfrm>
            <a:off x="1186260" y="426681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52" name="ZoneTexte 151"/>
          <p:cNvSpPr txBox="1"/>
          <p:nvPr/>
        </p:nvSpPr>
        <p:spPr>
          <a:xfrm>
            <a:off x="7304359" y="3972094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1020µs</a:t>
            </a:r>
            <a:endParaRPr lang="fr-FR" dirty="0"/>
          </a:p>
        </p:txBody>
      </p:sp>
      <p:sp>
        <p:nvSpPr>
          <p:cNvPr id="153" name="ZoneTexte 152"/>
          <p:cNvSpPr txBox="1"/>
          <p:nvPr/>
        </p:nvSpPr>
        <p:spPr>
          <a:xfrm>
            <a:off x="-107459" y="5366859"/>
            <a:ext cx="121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Nb d’interruption</a:t>
            </a:r>
            <a:endParaRPr lang="fr-FR" sz="1400" dirty="0"/>
          </a:p>
        </p:txBody>
      </p:sp>
      <p:sp>
        <p:nvSpPr>
          <p:cNvPr id="154" name="Rectangle à coins arrondis 153"/>
          <p:cNvSpPr/>
          <p:nvPr/>
        </p:nvSpPr>
        <p:spPr>
          <a:xfrm>
            <a:off x="1326170" y="5593049"/>
            <a:ext cx="8782406" cy="30057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55" name="Rectangle à coins arrondis 154"/>
          <p:cNvSpPr/>
          <p:nvPr/>
        </p:nvSpPr>
        <p:spPr>
          <a:xfrm>
            <a:off x="10123083" y="5580130"/>
            <a:ext cx="1839423" cy="30994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9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Connecteur droit 85"/>
          <p:cNvCxnSpPr/>
          <p:nvPr/>
        </p:nvCxnSpPr>
        <p:spPr>
          <a:xfrm flipH="1">
            <a:off x="9472814" y="2221594"/>
            <a:ext cx="53033" cy="312306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H="1">
            <a:off x="8230108" y="2144104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4255" y="119982"/>
            <a:ext cx="10515600" cy="1325563"/>
          </a:xfrm>
        </p:spPr>
        <p:txBody>
          <a:bodyPr/>
          <a:lstStyle/>
          <a:p>
            <a:r>
              <a:rPr lang="fr-FR" dirty="0" smtClean="0"/>
              <a:t>   Exemple3 : TMR0-MODE TIMER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146992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7</a:t>
            </a:fld>
            <a:endParaRPr lang="fr-FR"/>
          </a:p>
        </p:txBody>
      </p:sp>
      <p:cxnSp>
        <p:nvCxnSpPr>
          <p:cNvPr id="60" name="Connecteur droit 59"/>
          <p:cNvCxnSpPr/>
          <p:nvPr/>
        </p:nvCxnSpPr>
        <p:spPr>
          <a:xfrm flipH="1">
            <a:off x="1372220" y="1965869"/>
            <a:ext cx="22629" cy="34401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012188" y="1965868"/>
            <a:ext cx="2568" cy="328564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H="1">
            <a:off x="2634682" y="1981367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H="1">
            <a:off x="3252025" y="1965869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 flipH="1">
            <a:off x="3884846" y="1965869"/>
            <a:ext cx="20733" cy="337878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4541002" y="1965869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H="1">
            <a:off x="5144131" y="1965869"/>
            <a:ext cx="1302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H="1">
            <a:off x="5764074" y="1965869"/>
            <a:ext cx="16791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Rectangle à coins arrondis 67"/>
          <p:cNvSpPr/>
          <p:nvPr/>
        </p:nvSpPr>
        <p:spPr>
          <a:xfrm>
            <a:off x="1379351" y="3086768"/>
            <a:ext cx="1268265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71" name="Rectangle à coins arrondis 70"/>
          <p:cNvSpPr/>
          <p:nvPr/>
        </p:nvSpPr>
        <p:spPr>
          <a:xfrm>
            <a:off x="2647628" y="3084188"/>
            <a:ext cx="126568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73" name="Rectangle à coins arrondis 72"/>
          <p:cNvSpPr/>
          <p:nvPr/>
        </p:nvSpPr>
        <p:spPr>
          <a:xfrm>
            <a:off x="3887498" y="3084188"/>
            <a:ext cx="127867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75" name="Rectangle à coins arrondis 74"/>
          <p:cNvSpPr/>
          <p:nvPr/>
        </p:nvSpPr>
        <p:spPr>
          <a:xfrm>
            <a:off x="5155775" y="3081608"/>
            <a:ext cx="1257936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77" name="Connecteur droit 76"/>
          <p:cNvCxnSpPr/>
          <p:nvPr/>
        </p:nvCxnSpPr>
        <p:spPr>
          <a:xfrm flipH="1">
            <a:off x="6383999" y="1978786"/>
            <a:ext cx="29712" cy="32727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Rectangle à coins arrondis 77"/>
          <p:cNvSpPr/>
          <p:nvPr/>
        </p:nvSpPr>
        <p:spPr>
          <a:xfrm>
            <a:off x="7606648" y="3081608"/>
            <a:ext cx="1268265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80" name="Rectangle à coins arrondis 79"/>
          <p:cNvSpPr/>
          <p:nvPr/>
        </p:nvSpPr>
        <p:spPr>
          <a:xfrm>
            <a:off x="8874925" y="3079028"/>
            <a:ext cx="1192925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>
            <a:off x="7609215" y="2131186"/>
            <a:ext cx="12920" cy="31203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 flipH="1">
            <a:off x="8833251" y="2190598"/>
            <a:ext cx="41662" cy="315405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Connecteur droit avec flèche 87"/>
          <p:cNvCxnSpPr/>
          <p:nvPr/>
        </p:nvCxnSpPr>
        <p:spPr>
          <a:xfrm>
            <a:off x="1394846" y="468195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/>
          <p:nvPr/>
        </p:nvCxnSpPr>
        <p:spPr>
          <a:xfrm>
            <a:off x="2012196" y="467937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2647625" y="467937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3264975" y="467679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8487" y="467937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4535837" y="467679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/>
        </p:nvCxnSpPr>
        <p:spPr>
          <a:xfrm>
            <a:off x="5171266" y="467679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>
            <a:off x="5788616" y="4674213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>
            <a:off x="7889152" y="472586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/>
          <p:nvPr/>
        </p:nvCxnSpPr>
        <p:spPr>
          <a:xfrm>
            <a:off x="8506502" y="472328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/>
          <p:cNvCxnSpPr/>
          <p:nvPr/>
        </p:nvCxnSpPr>
        <p:spPr>
          <a:xfrm>
            <a:off x="9141931" y="472328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>
            <a:off x="9759281" y="4720707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1737254" y="3999174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1" name="ZoneTexte 100"/>
          <p:cNvSpPr txBox="1"/>
          <p:nvPr/>
        </p:nvSpPr>
        <p:spPr>
          <a:xfrm>
            <a:off x="2421124" y="3981094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2" name="ZoneTexte 101"/>
          <p:cNvSpPr txBox="1"/>
          <p:nvPr/>
        </p:nvSpPr>
        <p:spPr>
          <a:xfrm>
            <a:off x="2990052" y="3981095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3" name="ZoneTexte 102"/>
          <p:cNvSpPr txBox="1"/>
          <p:nvPr/>
        </p:nvSpPr>
        <p:spPr>
          <a:xfrm>
            <a:off x="3679726" y="398086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4" name="ZoneTexte 103"/>
          <p:cNvSpPr txBox="1"/>
          <p:nvPr/>
        </p:nvSpPr>
        <p:spPr>
          <a:xfrm>
            <a:off x="4238923" y="398086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5" name="ZoneTexte 104"/>
          <p:cNvSpPr txBox="1"/>
          <p:nvPr/>
        </p:nvSpPr>
        <p:spPr>
          <a:xfrm>
            <a:off x="4923131" y="396301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6" name="ZoneTexte 105"/>
          <p:cNvSpPr txBox="1"/>
          <p:nvPr/>
        </p:nvSpPr>
        <p:spPr>
          <a:xfrm>
            <a:off x="5490678" y="396301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7" name="ZoneTexte 106"/>
          <p:cNvSpPr txBox="1"/>
          <p:nvPr/>
        </p:nvSpPr>
        <p:spPr>
          <a:xfrm>
            <a:off x="6182024" y="3948103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4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8" name="ZoneTexte 107"/>
          <p:cNvSpPr txBox="1"/>
          <p:nvPr/>
        </p:nvSpPr>
        <p:spPr>
          <a:xfrm>
            <a:off x="7907383" y="3776508"/>
            <a:ext cx="725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256,5µs</a:t>
            </a:r>
            <a:endParaRPr lang="fr-FR" dirty="0"/>
          </a:p>
        </p:txBody>
      </p:sp>
      <p:sp>
        <p:nvSpPr>
          <p:cNvPr id="109" name="ZoneTexte 108"/>
          <p:cNvSpPr txBox="1"/>
          <p:nvPr/>
        </p:nvSpPr>
        <p:spPr>
          <a:xfrm>
            <a:off x="8556106" y="4066522"/>
            <a:ext cx="782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257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10" name="ZoneTexte 109"/>
          <p:cNvSpPr txBox="1"/>
          <p:nvPr/>
        </p:nvSpPr>
        <p:spPr>
          <a:xfrm>
            <a:off x="9149457" y="3787097"/>
            <a:ext cx="753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257,5µs</a:t>
            </a:r>
            <a:endParaRPr lang="fr-FR" dirty="0"/>
          </a:p>
        </p:txBody>
      </p:sp>
      <p:sp>
        <p:nvSpPr>
          <p:cNvPr id="111" name="ZoneTexte 110"/>
          <p:cNvSpPr txBox="1"/>
          <p:nvPr/>
        </p:nvSpPr>
        <p:spPr>
          <a:xfrm>
            <a:off x="9793159" y="4079537"/>
            <a:ext cx="78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258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34" name="ZoneTexte 133"/>
          <p:cNvSpPr txBox="1"/>
          <p:nvPr/>
        </p:nvSpPr>
        <p:spPr>
          <a:xfrm>
            <a:off x="123986" y="2266237"/>
            <a:ext cx="71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CLK</a:t>
            </a:r>
            <a:endParaRPr lang="fr-FR" dirty="0"/>
          </a:p>
        </p:txBody>
      </p:sp>
      <p:sp>
        <p:nvSpPr>
          <p:cNvPr id="135" name="ZoneTexte 134"/>
          <p:cNvSpPr txBox="1"/>
          <p:nvPr/>
        </p:nvSpPr>
        <p:spPr>
          <a:xfrm>
            <a:off x="43901" y="3117241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TMR0</a:t>
            </a:r>
            <a:endParaRPr lang="fr-FR" dirty="0"/>
          </a:p>
        </p:txBody>
      </p:sp>
      <p:sp>
        <p:nvSpPr>
          <p:cNvPr id="136" name="ZoneTexte 135"/>
          <p:cNvSpPr txBox="1"/>
          <p:nvPr/>
        </p:nvSpPr>
        <p:spPr>
          <a:xfrm>
            <a:off x="26431" y="4351375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temps</a:t>
            </a:r>
            <a:endParaRPr lang="fr-FR" dirty="0"/>
          </a:p>
        </p:txBody>
      </p:sp>
      <p:cxnSp>
        <p:nvCxnSpPr>
          <p:cNvPr id="7" name="Connecteur en angle 6"/>
          <p:cNvCxnSpPr/>
          <p:nvPr/>
        </p:nvCxnSpPr>
        <p:spPr>
          <a:xfrm>
            <a:off x="1394846" y="229205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en angle 14"/>
          <p:cNvCxnSpPr/>
          <p:nvPr/>
        </p:nvCxnSpPr>
        <p:spPr>
          <a:xfrm rot="5400000">
            <a:off x="1045848" y="2329798"/>
            <a:ext cx="386739" cy="311257"/>
          </a:xfrm>
          <a:prstGeom prst="bentConnector3">
            <a:avLst>
              <a:gd name="adj1" fmla="val 98089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V="1">
            <a:off x="2014779" y="2292057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/>
          <p:nvPr/>
        </p:nvCxnSpPr>
        <p:spPr>
          <a:xfrm>
            <a:off x="2012190" y="228947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2632127" y="2289477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en angle 34"/>
          <p:cNvCxnSpPr/>
          <p:nvPr/>
        </p:nvCxnSpPr>
        <p:spPr>
          <a:xfrm>
            <a:off x="2629538" y="228689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V="1">
            <a:off x="3264972" y="2286895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en angle 36"/>
          <p:cNvCxnSpPr/>
          <p:nvPr/>
        </p:nvCxnSpPr>
        <p:spPr>
          <a:xfrm>
            <a:off x="3277881" y="2284315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3913315" y="2299813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ngle 38"/>
          <p:cNvCxnSpPr/>
          <p:nvPr/>
        </p:nvCxnSpPr>
        <p:spPr>
          <a:xfrm>
            <a:off x="3926224" y="2297233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538417" y="2273979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40"/>
          <p:cNvCxnSpPr/>
          <p:nvPr/>
        </p:nvCxnSpPr>
        <p:spPr>
          <a:xfrm>
            <a:off x="4535828" y="2271399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5155765" y="2271399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en angle 42"/>
          <p:cNvCxnSpPr/>
          <p:nvPr/>
        </p:nvCxnSpPr>
        <p:spPr>
          <a:xfrm>
            <a:off x="5153176" y="2268819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V="1">
            <a:off x="5788610" y="2268817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en angle 44"/>
          <p:cNvCxnSpPr/>
          <p:nvPr/>
        </p:nvCxnSpPr>
        <p:spPr>
          <a:xfrm>
            <a:off x="5801519" y="226623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 flipV="1">
            <a:off x="6436953" y="2281735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en angle 46"/>
          <p:cNvCxnSpPr/>
          <p:nvPr/>
        </p:nvCxnSpPr>
        <p:spPr>
          <a:xfrm>
            <a:off x="6449862" y="2279155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7624726" y="2289477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en angle 48"/>
          <p:cNvCxnSpPr/>
          <p:nvPr/>
        </p:nvCxnSpPr>
        <p:spPr>
          <a:xfrm>
            <a:off x="7622137" y="228689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V="1">
            <a:off x="8242074" y="2286897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en angle 50"/>
          <p:cNvCxnSpPr/>
          <p:nvPr/>
        </p:nvCxnSpPr>
        <p:spPr>
          <a:xfrm>
            <a:off x="8239485" y="2284317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V="1">
            <a:off x="8874919" y="2284315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en angle 52"/>
          <p:cNvCxnSpPr/>
          <p:nvPr/>
        </p:nvCxnSpPr>
        <p:spPr>
          <a:xfrm>
            <a:off x="8887828" y="2281735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9523262" y="2297233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en angle 54"/>
          <p:cNvCxnSpPr/>
          <p:nvPr/>
        </p:nvCxnSpPr>
        <p:spPr>
          <a:xfrm>
            <a:off x="9536171" y="2294653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7116289" y="2421217"/>
            <a:ext cx="2399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  .   </a:t>
            </a:r>
            <a:endParaRPr lang="fr-F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37788" y="999197"/>
            <a:ext cx="11666354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2788" lvl="1">
              <a:spcBef>
                <a:spcPts val="1000"/>
              </a:spcBef>
            </a:pPr>
            <a:r>
              <a:rPr lang="fr-FR" dirty="0">
                <a:cs typeface="Times New Roman" pitchFamily="18" charset="0"/>
              </a:rPr>
              <a:t>On suppose que :</a:t>
            </a:r>
          </a:p>
          <a:p>
            <a:pPr marL="998538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dirty="0">
                <a:cs typeface="Times New Roman" pitchFamily="18" charset="0"/>
              </a:rPr>
              <a:t>Fréquence du µc = </a:t>
            </a:r>
            <a:r>
              <a:rPr lang="fr-FR" dirty="0" smtClean="0">
                <a:cs typeface="Times New Roman" pitchFamily="18" charset="0"/>
              </a:rPr>
              <a:t>8MHZ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 Cycle = 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0,5µs ,  Le </a:t>
            </a:r>
            <a:r>
              <a:rPr lang="fr-FR" dirty="0" err="1" smtClean="0">
                <a:cs typeface="Times New Roman" pitchFamily="18" charset="0"/>
                <a:sym typeface="Wingdings" panose="05000000000000000000" pitchFamily="2" charset="2"/>
              </a:rPr>
              <a:t>prédiviseur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 = 2 , Initialement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la valeur du registre </a:t>
            </a:r>
            <a:r>
              <a:rPr lang="fr-FR" b="1" dirty="0">
                <a:cs typeface="Times New Roman" pitchFamily="18" charset="0"/>
                <a:sym typeface="Wingdings" panose="05000000000000000000" pitchFamily="2" charset="2"/>
              </a:rPr>
              <a:t>TMR0 = </a:t>
            </a:r>
            <a:r>
              <a:rPr lang="fr-FR" b="1" dirty="0" smtClean="0">
                <a:cs typeface="Times New Roman" pitchFamily="18" charset="0"/>
                <a:sym typeface="Wingdings" panose="05000000000000000000" pitchFamily="2" charset="2"/>
              </a:rPr>
              <a:t>254 </a:t>
            </a:r>
            <a:endParaRPr lang="fr-FR" b="1" dirty="0">
              <a:cs typeface="Times New Roman" pitchFamily="18" charset="0"/>
            </a:endParaRPr>
          </a:p>
        </p:txBody>
      </p:sp>
      <p:cxnSp>
        <p:nvCxnSpPr>
          <p:cNvPr id="113" name="Connecteur droit 112"/>
          <p:cNvCxnSpPr/>
          <p:nvPr/>
        </p:nvCxnSpPr>
        <p:spPr>
          <a:xfrm flipH="1">
            <a:off x="10703675" y="2127688"/>
            <a:ext cx="24872" cy="310741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4" name="Rectangle à coins arrondis 113"/>
          <p:cNvSpPr/>
          <p:nvPr/>
        </p:nvSpPr>
        <p:spPr>
          <a:xfrm>
            <a:off x="10080215" y="3065192"/>
            <a:ext cx="126826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116" name="Connecteur droit 115"/>
          <p:cNvCxnSpPr/>
          <p:nvPr/>
        </p:nvCxnSpPr>
        <p:spPr>
          <a:xfrm flipH="1">
            <a:off x="10075094" y="2159696"/>
            <a:ext cx="23478" cy="32369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Connecteur droit avec flèche 117"/>
          <p:cNvCxnSpPr/>
          <p:nvPr/>
        </p:nvCxnSpPr>
        <p:spPr>
          <a:xfrm>
            <a:off x="10362719" y="4709452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18"/>
          <p:cNvCxnSpPr/>
          <p:nvPr/>
        </p:nvCxnSpPr>
        <p:spPr>
          <a:xfrm>
            <a:off x="10980069" y="4706872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ZoneTexte 121"/>
          <p:cNvSpPr txBox="1"/>
          <p:nvPr/>
        </p:nvSpPr>
        <p:spPr>
          <a:xfrm>
            <a:off x="10397670" y="3802538"/>
            <a:ext cx="715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258,5µs</a:t>
            </a:r>
            <a:endParaRPr lang="fr-FR" dirty="0"/>
          </a:p>
        </p:txBody>
      </p:sp>
      <p:sp>
        <p:nvSpPr>
          <p:cNvPr id="123" name="ZoneTexte 122"/>
          <p:cNvSpPr txBox="1"/>
          <p:nvPr/>
        </p:nvSpPr>
        <p:spPr>
          <a:xfrm>
            <a:off x="11043088" y="4079846"/>
            <a:ext cx="8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259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cxnSp>
        <p:nvCxnSpPr>
          <p:cNvPr id="126" name="Connecteur droit 125"/>
          <p:cNvCxnSpPr/>
          <p:nvPr/>
        </p:nvCxnSpPr>
        <p:spPr>
          <a:xfrm flipV="1">
            <a:off x="10098293" y="2273061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en angle 126"/>
          <p:cNvCxnSpPr/>
          <p:nvPr/>
        </p:nvCxnSpPr>
        <p:spPr>
          <a:xfrm>
            <a:off x="10095704" y="2270481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V="1">
            <a:off x="10715641" y="2270481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en angle 128"/>
          <p:cNvCxnSpPr/>
          <p:nvPr/>
        </p:nvCxnSpPr>
        <p:spPr>
          <a:xfrm>
            <a:off x="10713052" y="2267901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à coins arrondis 114"/>
          <p:cNvSpPr/>
          <p:nvPr/>
        </p:nvSpPr>
        <p:spPr>
          <a:xfrm>
            <a:off x="258308" y="5865053"/>
            <a:ext cx="11845833" cy="87122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smtClean="0"/>
              <a:t>Le TMR0 </a:t>
            </a:r>
            <a:r>
              <a:rPr lang="fr-FR" sz="2000" b="1" dirty="0" err="1" smtClean="0"/>
              <a:t>genere</a:t>
            </a:r>
            <a:r>
              <a:rPr lang="fr-FR" sz="2000" b="1" dirty="0" smtClean="0"/>
              <a:t> une 1</a:t>
            </a:r>
            <a:r>
              <a:rPr lang="fr-FR" sz="2000" b="1" baseline="30000" dirty="0" smtClean="0"/>
              <a:t>ère</a:t>
            </a:r>
            <a:r>
              <a:rPr lang="fr-FR" sz="2000" b="1" dirty="0" smtClean="0"/>
              <a:t> interruption après(</a:t>
            </a:r>
            <a:r>
              <a:rPr lang="fr-FR" sz="2000" b="1" dirty="0" smtClean="0">
                <a:solidFill>
                  <a:srgbClr val="C00000"/>
                </a:solidFill>
              </a:rPr>
              <a:t>256-Vintiale)* cycle * </a:t>
            </a:r>
            <a:r>
              <a:rPr lang="fr-FR" sz="2000" b="1" dirty="0" err="1" smtClean="0">
                <a:solidFill>
                  <a:srgbClr val="C00000"/>
                </a:solidFill>
              </a:rPr>
              <a:t>prédiviseur</a:t>
            </a:r>
            <a:r>
              <a:rPr lang="fr-FR" sz="2000" b="1" dirty="0" smtClean="0">
                <a:solidFill>
                  <a:srgbClr val="C00000"/>
                </a:solidFill>
              </a:rPr>
              <a:t> </a:t>
            </a:r>
            <a:r>
              <a:rPr lang="fr-FR" sz="2000" b="1" dirty="0" smtClean="0"/>
              <a:t>: (256-254)*0,5*2 =2µs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smtClean="0"/>
              <a:t>Ensuite le TMR0 </a:t>
            </a:r>
            <a:r>
              <a:rPr lang="fr-FR" sz="2000" b="1" dirty="0"/>
              <a:t>génère une interruption  </a:t>
            </a:r>
            <a:r>
              <a:rPr lang="fr-FR" sz="2000" b="1" dirty="0" smtClean="0"/>
              <a:t>chaque </a:t>
            </a:r>
            <a:r>
              <a:rPr lang="fr-FR" sz="2000" b="1" dirty="0" smtClean="0">
                <a:solidFill>
                  <a:srgbClr val="C00000"/>
                </a:solidFill>
              </a:rPr>
              <a:t>256* </a:t>
            </a:r>
            <a:r>
              <a:rPr lang="fr-FR" sz="2000" b="1" dirty="0">
                <a:solidFill>
                  <a:srgbClr val="C00000"/>
                </a:solidFill>
              </a:rPr>
              <a:t>cycle * </a:t>
            </a:r>
            <a:r>
              <a:rPr lang="fr-FR" sz="2000" b="1" dirty="0" err="1">
                <a:solidFill>
                  <a:srgbClr val="C00000"/>
                </a:solidFill>
              </a:rPr>
              <a:t>prédiviseur</a:t>
            </a:r>
            <a:r>
              <a:rPr lang="fr-FR" sz="2000" b="1" dirty="0">
                <a:solidFill>
                  <a:srgbClr val="C00000"/>
                </a:solidFill>
              </a:rPr>
              <a:t> </a:t>
            </a:r>
            <a:r>
              <a:rPr lang="fr-FR" sz="2000" b="1" dirty="0"/>
              <a:t>: </a:t>
            </a:r>
            <a:r>
              <a:rPr lang="fr-FR" sz="2000" b="1" dirty="0" smtClean="0"/>
              <a:t>256*0,5*2 =256µs</a:t>
            </a:r>
            <a:endParaRPr lang="fr-F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1394846" y="5095598"/>
            <a:ext cx="2490018" cy="528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16"/>
          <p:cNvCxnSpPr/>
          <p:nvPr/>
        </p:nvCxnSpPr>
        <p:spPr>
          <a:xfrm>
            <a:off x="3882317" y="5080353"/>
            <a:ext cx="6185533" cy="152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/>
          <p:cNvSpPr txBox="1"/>
          <p:nvPr/>
        </p:nvSpPr>
        <p:spPr>
          <a:xfrm>
            <a:off x="2240529" y="4778491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 µs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21" name="ZoneTexte 120"/>
          <p:cNvSpPr txBox="1"/>
          <p:nvPr/>
        </p:nvSpPr>
        <p:spPr>
          <a:xfrm>
            <a:off x="6548003" y="4766148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256 µs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124" name="Connecteur droit avec flèche 123"/>
          <p:cNvCxnSpPr/>
          <p:nvPr/>
        </p:nvCxnSpPr>
        <p:spPr>
          <a:xfrm>
            <a:off x="10094508" y="1958513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ZoneTexte 124"/>
          <p:cNvSpPr txBox="1"/>
          <p:nvPr/>
        </p:nvSpPr>
        <p:spPr>
          <a:xfrm>
            <a:off x="10029514" y="1663092"/>
            <a:ext cx="157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interruption2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130" name="Connecteur droit avec flèche 129"/>
          <p:cNvCxnSpPr/>
          <p:nvPr/>
        </p:nvCxnSpPr>
        <p:spPr>
          <a:xfrm>
            <a:off x="3902372" y="2012437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ZoneTexte 130"/>
          <p:cNvSpPr txBox="1"/>
          <p:nvPr/>
        </p:nvSpPr>
        <p:spPr>
          <a:xfrm>
            <a:off x="3837378" y="1717016"/>
            <a:ext cx="157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interruption1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32" name="ZoneTexte 131"/>
          <p:cNvSpPr txBox="1"/>
          <p:nvPr/>
        </p:nvSpPr>
        <p:spPr>
          <a:xfrm>
            <a:off x="1172206" y="402496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33" name="ZoneTexte 132"/>
          <p:cNvSpPr txBox="1"/>
          <p:nvPr/>
        </p:nvSpPr>
        <p:spPr>
          <a:xfrm>
            <a:off x="7344814" y="3760092"/>
            <a:ext cx="6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256µs</a:t>
            </a:r>
            <a:endParaRPr lang="fr-FR" dirty="0"/>
          </a:p>
        </p:txBody>
      </p:sp>
      <p:sp>
        <p:nvSpPr>
          <p:cNvPr id="138" name="ZoneTexte 137"/>
          <p:cNvSpPr txBox="1"/>
          <p:nvPr/>
        </p:nvSpPr>
        <p:spPr>
          <a:xfrm>
            <a:off x="-94012" y="5124813"/>
            <a:ext cx="121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Nb d’interruption</a:t>
            </a:r>
            <a:endParaRPr lang="fr-FR" sz="1400" dirty="0"/>
          </a:p>
        </p:txBody>
      </p:sp>
      <p:sp>
        <p:nvSpPr>
          <p:cNvPr id="139" name="Rectangle à coins arrondis 138"/>
          <p:cNvSpPr/>
          <p:nvPr/>
        </p:nvSpPr>
        <p:spPr>
          <a:xfrm>
            <a:off x="1418510" y="5472985"/>
            <a:ext cx="2479304" cy="27111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40" name="Rectangle à coins arrondis 139"/>
          <p:cNvSpPr/>
          <p:nvPr/>
        </p:nvSpPr>
        <p:spPr>
          <a:xfrm>
            <a:off x="3913315" y="5470137"/>
            <a:ext cx="6154535" cy="2817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41" name="Rectangle à coins arrondis 140"/>
          <p:cNvSpPr/>
          <p:nvPr/>
        </p:nvSpPr>
        <p:spPr>
          <a:xfrm>
            <a:off x="10083004" y="5472717"/>
            <a:ext cx="2021137" cy="28997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047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4255" y="119982"/>
            <a:ext cx="10515600" cy="1325563"/>
          </a:xfrm>
        </p:spPr>
        <p:txBody>
          <a:bodyPr/>
          <a:lstStyle/>
          <a:p>
            <a:r>
              <a:rPr lang="fr-FR" dirty="0" smtClean="0"/>
              <a:t>   Exemple4 : TMR0-MODE TIMER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146992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8</a:t>
            </a:fld>
            <a:endParaRPr lang="fr-FR"/>
          </a:p>
        </p:txBody>
      </p:sp>
      <p:cxnSp>
        <p:nvCxnSpPr>
          <p:cNvPr id="60" name="Connecteur droit 59"/>
          <p:cNvCxnSpPr>
            <a:endCxn id="271" idx="1"/>
          </p:cNvCxnSpPr>
          <p:nvPr/>
        </p:nvCxnSpPr>
        <p:spPr>
          <a:xfrm>
            <a:off x="1394849" y="2033104"/>
            <a:ext cx="23661" cy="377239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012188" y="2033103"/>
            <a:ext cx="2568" cy="328564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H="1">
            <a:off x="2634682" y="2048602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H="1">
            <a:off x="3252025" y="2033104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 flipH="1">
            <a:off x="3887455" y="2033104"/>
            <a:ext cx="18123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4541002" y="2033104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Rectangle à coins arrondis 67"/>
          <p:cNvSpPr/>
          <p:nvPr/>
        </p:nvSpPr>
        <p:spPr>
          <a:xfrm>
            <a:off x="1379351" y="3154003"/>
            <a:ext cx="1268265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71" name="Rectangle à coins arrondis 70"/>
          <p:cNvSpPr/>
          <p:nvPr/>
        </p:nvSpPr>
        <p:spPr>
          <a:xfrm>
            <a:off x="2647628" y="3151423"/>
            <a:ext cx="126568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73" name="Rectangle à coins arrondis 72"/>
          <p:cNvSpPr/>
          <p:nvPr/>
        </p:nvSpPr>
        <p:spPr>
          <a:xfrm>
            <a:off x="3887498" y="3151423"/>
            <a:ext cx="127867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88" name="Connecteur droit avec flèche 87"/>
          <p:cNvCxnSpPr/>
          <p:nvPr/>
        </p:nvCxnSpPr>
        <p:spPr>
          <a:xfrm>
            <a:off x="1394846" y="474918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/>
          <p:nvPr/>
        </p:nvCxnSpPr>
        <p:spPr>
          <a:xfrm>
            <a:off x="2012196" y="474660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/>
        </p:nvCxnSpPr>
        <p:spPr>
          <a:xfrm>
            <a:off x="2647625" y="474660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/>
        </p:nvCxnSpPr>
        <p:spPr>
          <a:xfrm>
            <a:off x="3264975" y="4744028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8487" y="474660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/>
        </p:nvCxnSpPr>
        <p:spPr>
          <a:xfrm>
            <a:off x="4535837" y="4744029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1737254" y="4066409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1" name="ZoneTexte 100"/>
          <p:cNvSpPr txBox="1"/>
          <p:nvPr/>
        </p:nvSpPr>
        <p:spPr>
          <a:xfrm>
            <a:off x="2421124" y="4048329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2" name="ZoneTexte 101"/>
          <p:cNvSpPr txBox="1"/>
          <p:nvPr/>
        </p:nvSpPr>
        <p:spPr>
          <a:xfrm>
            <a:off x="2990052" y="4048330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1,5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3" name="ZoneTexte 102"/>
          <p:cNvSpPr txBox="1"/>
          <p:nvPr/>
        </p:nvSpPr>
        <p:spPr>
          <a:xfrm>
            <a:off x="3679726" y="404810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4" name="ZoneTexte 103"/>
          <p:cNvSpPr txBox="1"/>
          <p:nvPr/>
        </p:nvSpPr>
        <p:spPr>
          <a:xfrm>
            <a:off x="4238923" y="4048101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2,5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05" name="ZoneTexte 104"/>
          <p:cNvSpPr txBox="1"/>
          <p:nvPr/>
        </p:nvSpPr>
        <p:spPr>
          <a:xfrm>
            <a:off x="4923131" y="4030251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12" name="Rectangle à coins arrondis 111"/>
          <p:cNvSpPr/>
          <p:nvPr/>
        </p:nvSpPr>
        <p:spPr>
          <a:xfrm>
            <a:off x="741334" y="3151423"/>
            <a:ext cx="632837" cy="49594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134" name="ZoneTexte 133"/>
          <p:cNvSpPr txBox="1"/>
          <p:nvPr/>
        </p:nvSpPr>
        <p:spPr>
          <a:xfrm>
            <a:off x="123986" y="2333472"/>
            <a:ext cx="71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CLK</a:t>
            </a:r>
            <a:endParaRPr lang="fr-FR" dirty="0"/>
          </a:p>
        </p:txBody>
      </p:sp>
      <p:sp>
        <p:nvSpPr>
          <p:cNvPr id="135" name="ZoneTexte 134"/>
          <p:cNvSpPr txBox="1"/>
          <p:nvPr/>
        </p:nvSpPr>
        <p:spPr>
          <a:xfrm>
            <a:off x="43901" y="3184476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TMR0</a:t>
            </a:r>
            <a:endParaRPr lang="fr-FR" dirty="0"/>
          </a:p>
        </p:txBody>
      </p:sp>
      <p:sp>
        <p:nvSpPr>
          <p:cNvPr id="136" name="ZoneTexte 135"/>
          <p:cNvSpPr txBox="1"/>
          <p:nvPr/>
        </p:nvSpPr>
        <p:spPr>
          <a:xfrm>
            <a:off x="26431" y="4418610"/>
            <a:ext cx="8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temps</a:t>
            </a:r>
            <a:endParaRPr lang="fr-FR" dirty="0"/>
          </a:p>
        </p:txBody>
      </p:sp>
      <p:cxnSp>
        <p:nvCxnSpPr>
          <p:cNvPr id="7" name="Connecteur en angle 6"/>
          <p:cNvCxnSpPr/>
          <p:nvPr/>
        </p:nvCxnSpPr>
        <p:spPr>
          <a:xfrm>
            <a:off x="1394846" y="235929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en angle 14"/>
          <p:cNvCxnSpPr/>
          <p:nvPr/>
        </p:nvCxnSpPr>
        <p:spPr>
          <a:xfrm rot="5400000">
            <a:off x="1045848" y="2397033"/>
            <a:ext cx="386739" cy="311257"/>
          </a:xfrm>
          <a:prstGeom prst="bentConnector3">
            <a:avLst>
              <a:gd name="adj1" fmla="val 98089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V="1">
            <a:off x="2014779" y="235929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en angle 31"/>
          <p:cNvCxnSpPr/>
          <p:nvPr/>
        </p:nvCxnSpPr>
        <p:spPr>
          <a:xfrm>
            <a:off x="2012190" y="235671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2632127" y="235671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en angle 34"/>
          <p:cNvCxnSpPr/>
          <p:nvPr/>
        </p:nvCxnSpPr>
        <p:spPr>
          <a:xfrm>
            <a:off x="2629538" y="235413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V="1">
            <a:off x="3264972" y="235413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en angle 36"/>
          <p:cNvCxnSpPr/>
          <p:nvPr/>
        </p:nvCxnSpPr>
        <p:spPr>
          <a:xfrm>
            <a:off x="3277881" y="235155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3913315" y="236704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ngle 38"/>
          <p:cNvCxnSpPr/>
          <p:nvPr/>
        </p:nvCxnSpPr>
        <p:spPr>
          <a:xfrm>
            <a:off x="3926224" y="236446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538417" y="234121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40"/>
          <p:cNvCxnSpPr/>
          <p:nvPr/>
        </p:nvCxnSpPr>
        <p:spPr>
          <a:xfrm>
            <a:off x="4535828" y="233863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37788" y="999197"/>
            <a:ext cx="116663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98538" lvl="1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fr-FR" dirty="0" smtClean="0">
                <a:cs typeface="Times New Roman" pitchFamily="18" charset="0"/>
              </a:rPr>
              <a:t>Fréquence </a:t>
            </a:r>
            <a:r>
              <a:rPr lang="fr-FR" dirty="0">
                <a:cs typeface="Times New Roman" pitchFamily="18" charset="0"/>
              </a:rPr>
              <a:t>du µc = </a:t>
            </a:r>
            <a:r>
              <a:rPr lang="fr-FR" dirty="0" smtClean="0">
                <a:cs typeface="Times New Roman" pitchFamily="18" charset="0"/>
              </a:rPr>
              <a:t>8MHZ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 Cycle = 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0,5µs ,  Le </a:t>
            </a:r>
            <a:r>
              <a:rPr lang="fr-FR" dirty="0" err="1" smtClean="0">
                <a:cs typeface="Times New Roman" pitchFamily="18" charset="0"/>
                <a:sym typeface="Wingdings" panose="05000000000000000000" pitchFamily="2" charset="2"/>
              </a:rPr>
              <a:t>prédiviseur</a:t>
            </a:r>
            <a:r>
              <a:rPr lang="fr-FR" dirty="0" smtClean="0">
                <a:cs typeface="Times New Roman" pitchFamily="18" charset="0"/>
                <a:sym typeface="Wingdings" panose="05000000000000000000" pitchFamily="2" charset="2"/>
              </a:rPr>
              <a:t> = 2 , Initialement </a:t>
            </a:r>
            <a:r>
              <a:rPr lang="fr-FR" dirty="0">
                <a:cs typeface="Times New Roman" pitchFamily="18" charset="0"/>
                <a:sym typeface="Wingdings" panose="05000000000000000000" pitchFamily="2" charset="2"/>
              </a:rPr>
              <a:t>la valeur du registre </a:t>
            </a:r>
            <a:r>
              <a:rPr lang="fr-FR" b="1" dirty="0">
                <a:cs typeface="Times New Roman" pitchFamily="18" charset="0"/>
                <a:sym typeface="Wingdings" panose="05000000000000000000" pitchFamily="2" charset="2"/>
              </a:rPr>
              <a:t>TMR0 = </a:t>
            </a:r>
            <a:r>
              <a:rPr lang="fr-FR" b="1" dirty="0" smtClean="0">
                <a:cs typeface="Times New Roman" pitchFamily="18" charset="0"/>
                <a:sym typeface="Wingdings" panose="05000000000000000000" pitchFamily="2" charset="2"/>
              </a:rPr>
              <a:t>254 </a:t>
            </a:r>
            <a:endParaRPr lang="fr-FR" b="1" dirty="0">
              <a:cs typeface="Times New Roman" pitchFamily="18" charset="0"/>
            </a:endParaRPr>
          </a:p>
        </p:txBody>
      </p:sp>
      <p:sp>
        <p:nvSpPr>
          <p:cNvPr id="115" name="Rectangle à coins arrondis 114"/>
          <p:cNvSpPr/>
          <p:nvPr/>
        </p:nvSpPr>
        <p:spPr>
          <a:xfrm>
            <a:off x="328115" y="6302907"/>
            <a:ext cx="11845833" cy="4483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smtClean="0"/>
              <a:t>Le TMR0 génère une interruption chaque (</a:t>
            </a:r>
            <a:r>
              <a:rPr lang="fr-FR" sz="2000" b="1" dirty="0" smtClean="0">
                <a:solidFill>
                  <a:srgbClr val="C00000"/>
                </a:solidFill>
              </a:rPr>
              <a:t>256-Vintiale)* cycle * </a:t>
            </a:r>
            <a:r>
              <a:rPr lang="fr-FR" sz="2000" b="1" dirty="0" err="1" smtClean="0">
                <a:solidFill>
                  <a:srgbClr val="C00000"/>
                </a:solidFill>
              </a:rPr>
              <a:t>prédiviseur</a:t>
            </a:r>
            <a:r>
              <a:rPr lang="fr-FR" sz="2000" b="1" dirty="0" smtClean="0">
                <a:solidFill>
                  <a:srgbClr val="C00000"/>
                </a:solidFill>
              </a:rPr>
              <a:t> </a:t>
            </a:r>
            <a:r>
              <a:rPr lang="fr-FR" sz="2000" b="1" dirty="0" smtClean="0"/>
              <a:t>: (256-254)*0,5*2 =2µs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V="1">
            <a:off x="1394846" y="5148765"/>
            <a:ext cx="2487471" cy="1406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/>
          <p:cNvSpPr txBox="1"/>
          <p:nvPr/>
        </p:nvSpPr>
        <p:spPr>
          <a:xfrm>
            <a:off x="2467250" y="5224251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 µs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130" name="Connecteur droit avec flèche 129"/>
          <p:cNvCxnSpPr/>
          <p:nvPr/>
        </p:nvCxnSpPr>
        <p:spPr>
          <a:xfrm>
            <a:off x="3902372" y="2079672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ZoneTexte 130"/>
          <p:cNvSpPr txBox="1"/>
          <p:nvPr/>
        </p:nvSpPr>
        <p:spPr>
          <a:xfrm>
            <a:off x="2012188" y="1287420"/>
            <a:ext cx="4485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Interruption1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re-initialiser</a:t>
            </a:r>
            <a:r>
              <a:rPr lang="fr-FR" b="1" dirty="0" smtClean="0">
                <a:solidFill>
                  <a:srgbClr val="FF0000"/>
                </a:solidFill>
              </a:rPr>
              <a:t> le TMR0 = 254)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32" name="ZoneTexte 131"/>
          <p:cNvSpPr txBox="1"/>
          <p:nvPr/>
        </p:nvSpPr>
        <p:spPr>
          <a:xfrm>
            <a:off x="1172206" y="409219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0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cxnSp>
        <p:nvCxnSpPr>
          <p:cNvPr id="163" name="Connecteur droit 162"/>
          <p:cNvCxnSpPr/>
          <p:nvPr/>
        </p:nvCxnSpPr>
        <p:spPr>
          <a:xfrm flipH="1">
            <a:off x="3898180" y="2024140"/>
            <a:ext cx="2303" cy="356944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5" name="Connecteur droit 164"/>
          <p:cNvCxnSpPr/>
          <p:nvPr/>
        </p:nvCxnSpPr>
        <p:spPr>
          <a:xfrm flipH="1">
            <a:off x="5140316" y="2039638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6" name="Connecteur droit 165"/>
          <p:cNvCxnSpPr/>
          <p:nvPr/>
        </p:nvCxnSpPr>
        <p:spPr>
          <a:xfrm flipH="1">
            <a:off x="5757659" y="2024140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7" name="Connecteur droit 166"/>
          <p:cNvCxnSpPr/>
          <p:nvPr/>
        </p:nvCxnSpPr>
        <p:spPr>
          <a:xfrm flipH="1">
            <a:off x="6393089" y="2024140"/>
            <a:ext cx="18123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8" name="Connecteur droit 167"/>
          <p:cNvCxnSpPr/>
          <p:nvPr/>
        </p:nvCxnSpPr>
        <p:spPr>
          <a:xfrm>
            <a:off x="7046636" y="2024140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9" name="Rectangle à coins arrondis 168"/>
          <p:cNvSpPr/>
          <p:nvPr/>
        </p:nvSpPr>
        <p:spPr>
          <a:xfrm>
            <a:off x="3884985" y="3145039"/>
            <a:ext cx="1268265" cy="495945"/>
          </a:xfrm>
          <a:prstGeom prst="round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170" name="Rectangle à coins arrondis 169"/>
          <p:cNvSpPr/>
          <p:nvPr/>
        </p:nvSpPr>
        <p:spPr>
          <a:xfrm>
            <a:off x="5153262" y="3142459"/>
            <a:ext cx="126568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171" name="Rectangle à coins arrondis 170"/>
          <p:cNvSpPr/>
          <p:nvPr/>
        </p:nvSpPr>
        <p:spPr>
          <a:xfrm>
            <a:off x="6393132" y="3142459"/>
            <a:ext cx="127867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172" name="Connecteur droit avec flèche 171"/>
          <p:cNvCxnSpPr/>
          <p:nvPr/>
        </p:nvCxnSpPr>
        <p:spPr>
          <a:xfrm>
            <a:off x="3900480" y="474022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72"/>
          <p:cNvCxnSpPr/>
          <p:nvPr/>
        </p:nvCxnSpPr>
        <p:spPr>
          <a:xfrm>
            <a:off x="4517830" y="473764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/>
          <p:cNvCxnSpPr/>
          <p:nvPr/>
        </p:nvCxnSpPr>
        <p:spPr>
          <a:xfrm>
            <a:off x="5153259" y="473764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avec flèche 174"/>
          <p:cNvCxnSpPr/>
          <p:nvPr/>
        </p:nvCxnSpPr>
        <p:spPr>
          <a:xfrm>
            <a:off x="5770609" y="473506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75"/>
          <p:cNvCxnSpPr/>
          <p:nvPr/>
        </p:nvCxnSpPr>
        <p:spPr>
          <a:xfrm>
            <a:off x="6424121" y="473764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avec flèche 176"/>
          <p:cNvCxnSpPr/>
          <p:nvPr/>
        </p:nvCxnSpPr>
        <p:spPr>
          <a:xfrm>
            <a:off x="7041471" y="473506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ZoneTexte 179"/>
          <p:cNvSpPr txBox="1"/>
          <p:nvPr/>
        </p:nvSpPr>
        <p:spPr>
          <a:xfrm>
            <a:off x="5495686" y="403936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3,5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81" name="ZoneTexte 180"/>
          <p:cNvSpPr txBox="1"/>
          <p:nvPr/>
        </p:nvSpPr>
        <p:spPr>
          <a:xfrm>
            <a:off x="6185360" y="4039138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4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182" name="ZoneTexte 181"/>
          <p:cNvSpPr txBox="1"/>
          <p:nvPr/>
        </p:nvSpPr>
        <p:spPr>
          <a:xfrm>
            <a:off x="6744557" y="403913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4,5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cxnSp>
        <p:nvCxnSpPr>
          <p:cNvPr id="185" name="Connecteur droit 184"/>
          <p:cNvCxnSpPr/>
          <p:nvPr/>
        </p:nvCxnSpPr>
        <p:spPr>
          <a:xfrm flipV="1">
            <a:off x="4520413" y="235032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/>
          <p:cNvCxnSpPr/>
          <p:nvPr/>
        </p:nvCxnSpPr>
        <p:spPr>
          <a:xfrm flipV="1">
            <a:off x="5137761" y="234774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en angle 187"/>
          <p:cNvCxnSpPr/>
          <p:nvPr/>
        </p:nvCxnSpPr>
        <p:spPr>
          <a:xfrm>
            <a:off x="5135172" y="234516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/>
          <p:cNvCxnSpPr/>
          <p:nvPr/>
        </p:nvCxnSpPr>
        <p:spPr>
          <a:xfrm flipV="1">
            <a:off x="5770606" y="2345166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en angle 189"/>
          <p:cNvCxnSpPr/>
          <p:nvPr/>
        </p:nvCxnSpPr>
        <p:spPr>
          <a:xfrm>
            <a:off x="5783515" y="2342586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/>
          <p:cNvCxnSpPr/>
          <p:nvPr/>
        </p:nvCxnSpPr>
        <p:spPr>
          <a:xfrm flipV="1">
            <a:off x="6418949" y="235808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en angle 191"/>
          <p:cNvCxnSpPr/>
          <p:nvPr/>
        </p:nvCxnSpPr>
        <p:spPr>
          <a:xfrm>
            <a:off x="6431858" y="235550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/>
          <p:cNvCxnSpPr/>
          <p:nvPr/>
        </p:nvCxnSpPr>
        <p:spPr>
          <a:xfrm flipV="1">
            <a:off x="7044051" y="233225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en angle 193"/>
          <p:cNvCxnSpPr/>
          <p:nvPr/>
        </p:nvCxnSpPr>
        <p:spPr>
          <a:xfrm>
            <a:off x="7041462" y="232967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avec flèche 194"/>
          <p:cNvCxnSpPr/>
          <p:nvPr/>
        </p:nvCxnSpPr>
        <p:spPr>
          <a:xfrm flipV="1">
            <a:off x="3900480" y="5139801"/>
            <a:ext cx="2487471" cy="1406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avec flèche 195"/>
          <p:cNvCxnSpPr/>
          <p:nvPr/>
        </p:nvCxnSpPr>
        <p:spPr>
          <a:xfrm>
            <a:off x="6408006" y="2070708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ZoneTexte 196"/>
          <p:cNvSpPr txBox="1"/>
          <p:nvPr/>
        </p:nvSpPr>
        <p:spPr>
          <a:xfrm>
            <a:off x="4840334" y="5147019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 µs</a:t>
            </a:r>
            <a:endParaRPr lang="fr-FR" b="1" dirty="0">
              <a:solidFill>
                <a:srgbClr val="FF0000"/>
              </a:solidFill>
            </a:endParaRPr>
          </a:p>
        </p:txBody>
      </p:sp>
      <p:cxnSp>
        <p:nvCxnSpPr>
          <p:cNvPr id="199" name="Connecteur droit 198"/>
          <p:cNvCxnSpPr/>
          <p:nvPr/>
        </p:nvCxnSpPr>
        <p:spPr>
          <a:xfrm flipH="1">
            <a:off x="6398194" y="2024140"/>
            <a:ext cx="3431" cy="36429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 flipH="1">
            <a:off x="7641458" y="2039638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 flipH="1">
            <a:off x="8258801" y="2024140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 flipH="1">
            <a:off x="8874967" y="2024140"/>
            <a:ext cx="37388" cy="36429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9547778" y="2024140"/>
            <a:ext cx="1289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5" name="Rectangle à coins arrondis 204"/>
          <p:cNvSpPr/>
          <p:nvPr/>
        </p:nvSpPr>
        <p:spPr>
          <a:xfrm>
            <a:off x="6386127" y="3145039"/>
            <a:ext cx="1268265" cy="495945"/>
          </a:xfrm>
          <a:prstGeom prst="round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206" name="Rectangle à coins arrondis 205"/>
          <p:cNvSpPr/>
          <p:nvPr/>
        </p:nvSpPr>
        <p:spPr>
          <a:xfrm>
            <a:off x="7654404" y="3142459"/>
            <a:ext cx="126568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sp>
        <p:nvSpPr>
          <p:cNvPr id="207" name="Rectangle à coins arrondis 206"/>
          <p:cNvSpPr/>
          <p:nvPr/>
        </p:nvSpPr>
        <p:spPr>
          <a:xfrm>
            <a:off x="8894274" y="3142459"/>
            <a:ext cx="127867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208" name="Connecteur droit avec flèche 207"/>
          <p:cNvCxnSpPr/>
          <p:nvPr/>
        </p:nvCxnSpPr>
        <p:spPr>
          <a:xfrm>
            <a:off x="6401622" y="474022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208"/>
          <p:cNvCxnSpPr/>
          <p:nvPr/>
        </p:nvCxnSpPr>
        <p:spPr>
          <a:xfrm>
            <a:off x="7018972" y="473764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avec flèche 209"/>
          <p:cNvCxnSpPr/>
          <p:nvPr/>
        </p:nvCxnSpPr>
        <p:spPr>
          <a:xfrm>
            <a:off x="7654401" y="473764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avec flèche 210"/>
          <p:cNvCxnSpPr/>
          <p:nvPr/>
        </p:nvCxnSpPr>
        <p:spPr>
          <a:xfrm>
            <a:off x="8271751" y="4735064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211"/>
          <p:cNvCxnSpPr/>
          <p:nvPr/>
        </p:nvCxnSpPr>
        <p:spPr>
          <a:xfrm>
            <a:off x="8925263" y="473764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avec flèche 212"/>
          <p:cNvCxnSpPr/>
          <p:nvPr/>
        </p:nvCxnSpPr>
        <p:spPr>
          <a:xfrm>
            <a:off x="9542613" y="4735065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ZoneTexte 213"/>
          <p:cNvSpPr txBox="1"/>
          <p:nvPr/>
        </p:nvSpPr>
        <p:spPr>
          <a:xfrm>
            <a:off x="7996828" y="4039366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5,5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215" name="ZoneTexte 214"/>
          <p:cNvSpPr txBox="1"/>
          <p:nvPr/>
        </p:nvSpPr>
        <p:spPr>
          <a:xfrm>
            <a:off x="8686502" y="4039138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6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216" name="ZoneTexte 215"/>
          <p:cNvSpPr txBox="1"/>
          <p:nvPr/>
        </p:nvSpPr>
        <p:spPr>
          <a:xfrm>
            <a:off x="9245699" y="4039137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6,5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cxnSp>
        <p:nvCxnSpPr>
          <p:cNvPr id="220" name="Connecteur droit 219"/>
          <p:cNvCxnSpPr/>
          <p:nvPr/>
        </p:nvCxnSpPr>
        <p:spPr>
          <a:xfrm flipV="1">
            <a:off x="7638903" y="2347748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en angle 220"/>
          <p:cNvCxnSpPr/>
          <p:nvPr/>
        </p:nvCxnSpPr>
        <p:spPr>
          <a:xfrm>
            <a:off x="7636314" y="2345168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/>
          <p:cNvCxnSpPr/>
          <p:nvPr/>
        </p:nvCxnSpPr>
        <p:spPr>
          <a:xfrm flipV="1">
            <a:off x="8271748" y="2345166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en angle 222"/>
          <p:cNvCxnSpPr/>
          <p:nvPr/>
        </p:nvCxnSpPr>
        <p:spPr>
          <a:xfrm>
            <a:off x="8284657" y="2342586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 flipV="1">
            <a:off x="8920091" y="235808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en angle 224"/>
          <p:cNvCxnSpPr/>
          <p:nvPr/>
        </p:nvCxnSpPr>
        <p:spPr>
          <a:xfrm>
            <a:off x="8933000" y="235550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/>
          <p:cNvCxnSpPr/>
          <p:nvPr/>
        </p:nvCxnSpPr>
        <p:spPr>
          <a:xfrm flipV="1">
            <a:off x="9545193" y="233225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en angle 226"/>
          <p:cNvCxnSpPr/>
          <p:nvPr/>
        </p:nvCxnSpPr>
        <p:spPr>
          <a:xfrm>
            <a:off x="9542604" y="2329670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avec flèche 227"/>
          <p:cNvCxnSpPr/>
          <p:nvPr/>
        </p:nvCxnSpPr>
        <p:spPr>
          <a:xfrm flipV="1">
            <a:off x="6401622" y="5139801"/>
            <a:ext cx="2487471" cy="1406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228"/>
          <p:cNvCxnSpPr/>
          <p:nvPr/>
        </p:nvCxnSpPr>
        <p:spPr>
          <a:xfrm>
            <a:off x="8909148" y="2070708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229"/>
          <p:cNvSpPr txBox="1"/>
          <p:nvPr/>
        </p:nvSpPr>
        <p:spPr>
          <a:xfrm>
            <a:off x="7341476" y="5147019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 µs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31" name="ZoneTexte 230"/>
          <p:cNvSpPr txBox="1"/>
          <p:nvPr/>
        </p:nvSpPr>
        <p:spPr>
          <a:xfrm>
            <a:off x="5392525" y="1331033"/>
            <a:ext cx="4485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Interruption2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re-initialiser</a:t>
            </a:r>
            <a:r>
              <a:rPr lang="fr-FR" b="1" dirty="0" smtClean="0">
                <a:solidFill>
                  <a:srgbClr val="FF0000"/>
                </a:solidFill>
              </a:rPr>
              <a:t> le TMR0 = 254)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34" name="Rectangle à coins arrondis 233"/>
          <p:cNvSpPr/>
          <p:nvPr/>
        </p:nvSpPr>
        <p:spPr>
          <a:xfrm>
            <a:off x="8925658" y="3133495"/>
            <a:ext cx="1278675" cy="4959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cxnSp>
        <p:nvCxnSpPr>
          <p:cNvPr id="235" name="Connecteur droit avec flèche 234"/>
          <p:cNvCxnSpPr/>
          <p:nvPr/>
        </p:nvCxnSpPr>
        <p:spPr>
          <a:xfrm>
            <a:off x="8956647" y="472868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eur droit avec flèche 235"/>
          <p:cNvCxnSpPr/>
          <p:nvPr/>
        </p:nvCxnSpPr>
        <p:spPr>
          <a:xfrm>
            <a:off x="9573997" y="472610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 flipV="1">
            <a:off x="8924581" y="234912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/>
          <p:cNvCxnSpPr/>
          <p:nvPr/>
        </p:nvCxnSpPr>
        <p:spPr>
          <a:xfrm flipH="1">
            <a:off x="10173984" y="2030674"/>
            <a:ext cx="25" cy="327014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6" name="Connecteur droit 245"/>
          <p:cNvCxnSpPr/>
          <p:nvPr/>
        </p:nvCxnSpPr>
        <p:spPr>
          <a:xfrm flipH="1">
            <a:off x="10791327" y="2015176"/>
            <a:ext cx="18118" cy="328564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7" name="Connecteur droit 246"/>
          <p:cNvCxnSpPr/>
          <p:nvPr/>
        </p:nvCxnSpPr>
        <p:spPr>
          <a:xfrm>
            <a:off x="11444881" y="2015176"/>
            <a:ext cx="4355" cy="363493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8" name="Rectangle à coins arrondis 247"/>
          <p:cNvSpPr/>
          <p:nvPr/>
        </p:nvSpPr>
        <p:spPr>
          <a:xfrm>
            <a:off x="8918653" y="3136075"/>
            <a:ext cx="1268265" cy="495945"/>
          </a:xfrm>
          <a:prstGeom prst="round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254</a:t>
            </a:r>
            <a:endParaRPr lang="fr-FR" dirty="0"/>
          </a:p>
        </p:txBody>
      </p:sp>
      <p:sp>
        <p:nvSpPr>
          <p:cNvPr id="249" name="Rectangle à coins arrondis 248"/>
          <p:cNvSpPr/>
          <p:nvPr/>
        </p:nvSpPr>
        <p:spPr>
          <a:xfrm>
            <a:off x="10186930" y="3133495"/>
            <a:ext cx="1265687" cy="49594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255</a:t>
            </a:r>
            <a:endParaRPr lang="fr-FR" dirty="0"/>
          </a:p>
        </p:txBody>
      </p:sp>
      <p:cxnSp>
        <p:nvCxnSpPr>
          <p:cNvPr id="250" name="Connecteur droit avec flèche 249"/>
          <p:cNvCxnSpPr/>
          <p:nvPr/>
        </p:nvCxnSpPr>
        <p:spPr>
          <a:xfrm>
            <a:off x="8934148" y="473126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eur droit avec flèche 250"/>
          <p:cNvCxnSpPr/>
          <p:nvPr/>
        </p:nvCxnSpPr>
        <p:spPr>
          <a:xfrm>
            <a:off x="9551498" y="4728681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avec flèche 251"/>
          <p:cNvCxnSpPr/>
          <p:nvPr/>
        </p:nvCxnSpPr>
        <p:spPr>
          <a:xfrm>
            <a:off x="10186927" y="472868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avec flèche 252"/>
          <p:cNvCxnSpPr/>
          <p:nvPr/>
        </p:nvCxnSpPr>
        <p:spPr>
          <a:xfrm>
            <a:off x="10804277" y="4726100"/>
            <a:ext cx="6173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ZoneTexte 253"/>
          <p:cNvSpPr txBox="1"/>
          <p:nvPr/>
        </p:nvSpPr>
        <p:spPr>
          <a:xfrm>
            <a:off x="10529354" y="4030402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7,5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255" name="ZoneTexte 254"/>
          <p:cNvSpPr txBox="1"/>
          <p:nvPr/>
        </p:nvSpPr>
        <p:spPr>
          <a:xfrm>
            <a:off x="11219028" y="4030174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8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cxnSp>
        <p:nvCxnSpPr>
          <p:cNvPr id="259" name="Connecteur droit 258"/>
          <p:cNvCxnSpPr/>
          <p:nvPr/>
        </p:nvCxnSpPr>
        <p:spPr>
          <a:xfrm flipV="1">
            <a:off x="10171429" y="2338784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en angle 259"/>
          <p:cNvCxnSpPr/>
          <p:nvPr/>
        </p:nvCxnSpPr>
        <p:spPr>
          <a:xfrm>
            <a:off x="10168840" y="2336204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260"/>
          <p:cNvCxnSpPr/>
          <p:nvPr/>
        </p:nvCxnSpPr>
        <p:spPr>
          <a:xfrm flipV="1">
            <a:off x="10804274" y="2336202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eur en angle 261"/>
          <p:cNvCxnSpPr/>
          <p:nvPr/>
        </p:nvCxnSpPr>
        <p:spPr>
          <a:xfrm>
            <a:off x="10817183" y="2333622"/>
            <a:ext cx="619933" cy="386739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262"/>
          <p:cNvCxnSpPr/>
          <p:nvPr/>
        </p:nvCxnSpPr>
        <p:spPr>
          <a:xfrm flipV="1">
            <a:off x="11452617" y="2349120"/>
            <a:ext cx="0" cy="38673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eur droit avec flèche 263"/>
          <p:cNvCxnSpPr/>
          <p:nvPr/>
        </p:nvCxnSpPr>
        <p:spPr>
          <a:xfrm flipV="1">
            <a:off x="8934148" y="5130837"/>
            <a:ext cx="2487471" cy="1406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eur droit avec flèche 264"/>
          <p:cNvCxnSpPr/>
          <p:nvPr/>
        </p:nvCxnSpPr>
        <p:spPr>
          <a:xfrm>
            <a:off x="11441674" y="2061744"/>
            <a:ext cx="1194" cy="1106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ZoneTexte 265"/>
          <p:cNvSpPr txBox="1"/>
          <p:nvPr/>
        </p:nvSpPr>
        <p:spPr>
          <a:xfrm>
            <a:off x="9874002" y="5138055"/>
            <a:ext cx="1209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2 µs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67" name="ZoneTexte 266"/>
          <p:cNvSpPr txBox="1"/>
          <p:nvPr/>
        </p:nvSpPr>
        <p:spPr>
          <a:xfrm>
            <a:off x="8686502" y="1282317"/>
            <a:ext cx="4485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Interruption3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re-initialiser</a:t>
            </a:r>
            <a:r>
              <a:rPr lang="fr-FR" b="1" dirty="0" smtClean="0">
                <a:solidFill>
                  <a:srgbClr val="FF0000"/>
                </a:solidFill>
              </a:rPr>
              <a:t> le TMR0 = 254)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68" name="ZoneTexte 267"/>
          <p:cNvSpPr txBox="1"/>
          <p:nvPr/>
        </p:nvSpPr>
        <p:spPr>
          <a:xfrm>
            <a:off x="9977346" y="4032674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7</a:t>
            </a:r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269" name="ZoneTexte 268"/>
          <p:cNvSpPr txBox="1"/>
          <p:nvPr/>
        </p:nvSpPr>
        <p:spPr>
          <a:xfrm>
            <a:off x="7504784" y="4026648"/>
            <a:ext cx="55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  <a:endParaRPr lang="fr-FR" dirty="0" smtClean="0"/>
          </a:p>
          <a:p>
            <a:r>
              <a:rPr lang="fr-FR" dirty="0" smtClean="0"/>
              <a:t>µs</a:t>
            </a:r>
            <a:endParaRPr lang="fr-FR" dirty="0"/>
          </a:p>
        </p:txBody>
      </p:sp>
      <p:sp>
        <p:nvSpPr>
          <p:cNvPr id="270" name="ZoneTexte 269"/>
          <p:cNvSpPr txBox="1"/>
          <p:nvPr/>
        </p:nvSpPr>
        <p:spPr>
          <a:xfrm>
            <a:off x="-67616" y="5422919"/>
            <a:ext cx="121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Nb d’interruption</a:t>
            </a:r>
            <a:endParaRPr lang="fr-FR" sz="1400" dirty="0"/>
          </a:p>
        </p:txBody>
      </p:sp>
      <p:sp>
        <p:nvSpPr>
          <p:cNvPr id="271" name="Rectangle à coins arrondis 270"/>
          <p:cNvSpPr/>
          <p:nvPr/>
        </p:nvSpPr>
        <p:spPr>
          <a:xfrm>
            <a:off x="1418510" y="5669935"/>
            <a:ext cx="2479304" cy="27111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272" name="Rectangle à coins arrondis 271"/>
          <p:cNvSpPr/>
          <p:nvPr/>
        </p:nvSpPr>
        <p:spPr>
          <a:xfrm>
            <a:off x="3913316" y="5650113"/>
            <a:ext cx="2472812" cy="2987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273" name="Rectangle à coins arrondis 272"/>
          <p:cNvSpPr/>
          <p:nvPr/>
        </p:nvSpPr>
        <p:spPr>
          <a:xfrm>
            <a:off x="6431858" y="5671638"/>
            <a:ext cx="2421316" cy="273967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274" name="Rectangle à coins arrondis 273"/>
          <p:cNvSpPr/>
          <p:nvPr/>
        </p:nvSpPr>
        <p:spPr>
          <a:xfrm>
            <a:off x="8889093" y="5687554"/>
            <a:ext cx="2563524" cy="27264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119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1" grpId="0" animBg="1"/>
      <p:bldP spid="73" grpId="0" animBg="1"/>
      <p:bldP spid="100" grpId="0"/>
      <p:bldP spid="101" grpId="0"/>
      <p:bldP spid="102" grpId="0"/>
      <p:bldP spid="103" grpId="0"/>
      <p:bldP spid="104" grpId="0"/>
      <p:bldP spid="112" grpId="0" animBg="1"/>
      <p:bldP spid="115" grpId="0" animBg="1"/>
      <p:bldP spid="120" grpId="0"/>
      <p:bldP spid="132" grpId="0"/>
      <p:bldP spid="169" grpId="0" animBg="1"/>
      <p:bldP spid="170" grpId="0" animBg="1"/>
      <p:bldP spid="171" grpId="0" animBg="1"/>
      <p:bldP spid="180" grpId="0"/>
      <p:bldP spid="181" grpId="0"/>
      <p:bldP spid="182" grpId="0"/>
      <p:bldP spid="197" grpId="0"/>
      <p:bldP spid="205" grpId="0" animBg="1"/>
      <p:bldP spid="206" grpId="0" animBg="1"/>
      <p:bldP spid="207" grpId="0" animBg="1"/>
      <p:bldP spid="214" grpId="0"/>
      <p:bldP spid="215" grpId="0"/>
      <p:bldP spid="216" grpId="0"/>
      <p:bldP spid="230" grpId="0"/>
      <p:bldP spid="234" grpId="0" animBg="1"/>
      <p:bldP spid="248" grpId="0" animBg="1"/>
      <p:bldP spid="249" grpId="0" animBg="1"/>
      <p:bldP spid="254" grpId="0"/>
      <p:bldP spid="255" grpId="0"/>
      <p:bldP spid="266" grpId="0"/>
      <p:bldP spid="268" grpId="0"/>
      <p:bldP spid="2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Le rôle du TMR0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3451" y="1572031"/>
            <a:ext cx="11308936" cy="5149444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endParaRPr lang="fr-FR" b="1" dirty="0" smtClean="0">
              <a:solidFill>
                <a:srgbClr val="FF0000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fr-FR" dirty="0" smtClean="0"/>
              <a:t>Le processeur peut calculer </a:t>
            </a:r>
            <a:r>
              <a:rPr lang="fr-FR" dirty="0"/>
              <a:t>des durées d’une façon software</a:t>
            </a:r>
            <a:r>
              <a:rPr lang="fr-FR" dirty="0" smtClean="0"/>
              <a:t> à travers la fonction </a:t>
            </a:r>
            <a:r>
              <a:rPr lang="fr-FR" dirty="0" err="1"/>
              <a:t>delay_ms</a:t>
            </a:r>
            <a:r>
              <a:rPr lang="fr-FR" dirty="0"/>
              <a:t>() </a:t>
            </a:r>
            <a:r>
              <a:rPr lang="fr-FR" dirty="0" smtClean="0"/>
              <a:t>.</a:t>
            </a:r>
            <a:endParaRPr lang="fr-FR" dirty="0"/>
          </a:p>
          <a:p>
            <a:pPr marL="228600" lvl="1">
              <a:spcBef>
                <a:spcPts val="1000"/>
              </a:spcBef>
            </a:pPr>
            <a:endParaRPr lang="fr-FR" dirty="0"/>
          </a:p>
          <a:p>
            <a:pPr marL="228600" lvl="1">
              <a:spcBef>
                <a:spcPts val="1000"/>
              </a:spcBef>
            </a:pPr>
            <a:r>
              <a:rPr lang="fr-FR" dirty="0" smtClean="0"/>
              <a:t>Le </a:t>
            </a:r>
            <a:r>
              <a:rPr lang="fr-FR" dirty="0" err="1" smtClean="0"/>
              <a:t>timer</a:t>
            </a:r>
            <a:r>
              <a:rPr lang="fr-FR" dirty="0" smtClean="0"/>
              <a:t> est un périphérique qui permet de calculer des durées mais à la place du processeur -&gt; alléger le processeur.</a:t>
            </a:r>
          </a:p>
          <a:p>
            <a:pPr marL="228600" lvl="1">
              <a:spcBef>
                <a:spcPts val="1000"/>
              </a:spcBef>
            </a:pPr>
            <a:endParaRPr lang="fr-FR" b="1" dirty="0" smtClean="0"/>
          </a:p>
          <a:p>
            <a:pPr marL="0" lvl="1" indent="0">
              <a:spcBef>
                <a:spcPts val="1000"/>
              </a:spcBef>
              <a:buNone/>
            </a:pPr>
            <a:endParaRPr lang="fr-FR" sz="1800" b="1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52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xmlns="" id="{F28352A5-72AF-4795-ABEA-9588F622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xmlns="" id="{190460EB-9CF3-4E2D-B03E-8065EF06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   Exercice d’application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6D32BE8-A174-4F26-A89D-22E94E3641C1}"/>
              </a:ext>
            </a:extLst>
          </p:cNvPr>
          <p:cNvSpPr/>
          <p:nvPr/>
        </p:nvSpPr>
        <p:spPr>
          <a:xfrm>
            <a:off x="273132" y="1747096"/>
            <a:ext cx="1191886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On désire programmer le clignotement d’une LED à une fréquence de </a:t>
            </a:r>
            <a:r>
              <a:rPr lang="fr-FR" dirty="0" smtClean="0"/>
              <a:t>4 MHz </a:t>
            </a:r>
            <a:r>
              <a:rPr lang="fr-FR" dirty="0"/>
              <a:t>en sachant que CI= 1µs.</a:t>
            </a:r>
          </a:p>
          <a:p>
            <a:r>
              <a:rPr lang="fr-FR" dirty="0"/>
              <a:t>    			</a:t>
            </a:r>
          </a:p>
          <a:p>
            <a:r>
              <a:rPr lang="fr-FR" b="1" dirty="0"/>
              <a:t>			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000" b="1" dirty="0" smtClean="0"/>
              <a:t>Proposer </a:t>
            </a:r>
            <a:r>
              <a:rPr lang="fr-FR" sz="2000" b="1" dirty="0"/>
              <a:t>le code C et le schéma </a:t>
            </a:r>
            <a:r>
              <a:rPr lang="fr-FR" sz="2000" b="1" dirty="0" err="1"/>
              <a:t>isis</a:t>
            </a:r>
            <a:r>
              <a:rPr lang="fr-FR" sz="2000" b="1" dirty="0"/>
              <a:t> qui permet d'inverser l'état d'une </a:t>
            </a:r>
            <a:r>
              <a:rPr lang="fr-FR" sz="2000" b="1" dirty="0" err="1"/>
              <a:t>led</a:t>
            </a:r>
            <a:r>
              <a:rPr lang="fr-FR" sz="2000" b="1" dirty="0"/>
              <a:t> (</a:t>
            </a:r>
            <a:r>
              <a:rPr lang="fr-FR" sz="2000" b="1" dirty="0" smtClean="0"/>
              <a:t>RB0) </a:t>
            </a:r>
            <a:r>
              <a:rPr lang="fr-FR" sz="2000" b="1" dirty="0"/>
              <a:t>toutes les </a:t>
            </a:r>
            <a:r>
              <a:rPr lang="fr-FR" sz="2000" b="1" dirty="0" smtClean="0"/>
              <a:t>1 secondes et d’afficher la lettre A dans un afficheur BCD.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2000" b="1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2000" b="1" dirty="0"/>
          </a:p>
          <a:p>
            <a:endParaRPr lang="fr-FR" b="1" dirty="0"/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6349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0101" y="-129395"/>
            <a:ext cx="8229600" cy="1143000"/>
          </a:xfrm>
        </p:spPr>
        <p:txBody>
          <a:bodyPr>
            <a:normAutofit/>
          </a:bodyPr>
          <a:lstStyle/>
          <a:p>
            <a:r>
              <a:rPr lang="fr-CA" sz="2800" b="1" dirty="0" smtClean="0">
                <a:latin typeface="Segoe UI" pitchFamily="34" charset="0"/>
                <a:cs typeface="Segoe UI" pitchFamily="34" charset="0"/>
              </a:rPr>
              <a:t>Exemple de mesure de temps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268625" y="6284694"/>
            <a:ext cx="4014425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400" dirty="0" smtClean="0"/>
              <a:t>L’afficheur n’affiche A que après 1s</a:t>
            </a:r>
            <a:endParaRPr lang="fr-FR" sz="1400" dirty="0"/>
          </a:p>
        </p:txBody>
      </p:sp>
      <p:grpSp>
        <p:nvGrpSpPr>
          <p:cNvPr id="119" name="object 69"/>
          <p:cNvGrpSpPr/>
          <p:nvPr/>
        </p:nvGrpSpPr>
        <p:grpSpPr>
          <a:xfrm>
            <a:off x="9211563" y="2150089"/>
            <a:ext cx="2660349" cy="1177236"/>
            <a:chOff x="2126932" y="3662997"/>
            <a:chExt cx="1816100" cy="375920"/>
          </a:xfrm>
        </p:grpSpPr>
        <p:sp>
          <p:nvSpPr>
            <p:cNvPr id="121" name="object 70"/>
            <p:cNvSpPr/>
            <p:nvPr/>
          </p:nvSpPr>
          <p:spPr>
            <a:xfrm>
              <a:off x="2134870" y="3670934"/>
              <a:ext cx="1800225" cy="360045"/>
            </a:xfrm>
            <a:custGeom>
              <a:avLst/>
              <a:gdLst/>
              <a:ahLst/>
              <a:cxnLst/>
              <a:rect l="l" t="t" r="r" b="b"/>
              <a:pathLst>
                <a:path w="1800225" h="360045">
                  <a:moveTo>
                    <a:pt x="1800225" y="0"/>
                  </a:moveTo>
                  <a:lnTo>
                    <a:pt x="0" y="0"/>
                  </a:lnTo>
                  <a:lnTo>
                    <a:pt x="0" y="360045"/>
                  </a:lnTo>
                  <a:lnTo>
                    <a:pt x="1800225" y="360045"/>
                  </a:lnTo>
                  <a:lnTo>
                    <a:pt x="1800225" y="0"/>
                  </a:lnTo>
                  <a:close/>
                </a:path>
              </a:pathLst>
            </a:custGeom>
            <a:solidFill>
              <a:srgbClr val="9BBA58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71"/>
            <p:cNvSpPr/>
            <p:nvPr/>
          </p:nvSpPr>
          <p:spPr>
            <a:xfrm>
              <a:off x="2134870" y="3670934"/>
              <a:ext cx="1800225" cy="360045"/>
            </a:xfrm>
            <a:custGeom>
              <a:avLst/>
              <a:gdLst/>
              <a:ahLst/>
              <a:cxnLst/>
              <a:rect l="l" t="t" r="r" b="b"/>
              <a:pathLst>
                <a:path w="1800225" h="360045">
                  <a:moveTo>
                    <a:pt x="0" y="360045"/>
                  </a:moveTo>
                  <a:lnTo>
                    <a:pt x="1800225" y="360045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72"/>
          <p:cNvSpPr txBox="1"/>
          <p:nvPr/>
        </p:nvSpPr>
        <p:spPr>
          <a:xfrm>
            <a:off x="9405954" y="2295637"/>
            <a:ext cx="2271569" cy="663002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Calculer 1s</a:t>
            </a:r>
          </a:p>
          <a:p>
            <a:pPr marL="5715" algn="ctr">
              <a:spcBef>
                <a:spcPts val="250"/>
              </a:spcBef>
            </a:pPr>
            <a:endParaRPr lang="fr-FR" sz="1200" spc="-50" dirty="0">
              <a:latin typeface="Georgia"/>
              <a:cs typeface="Georgia"/>
            </a:endParaRP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solidFill>
                  <a:srgbClr val="FF0000"/>
                </a:solidFill>
                <a:latin typeface="Georgia"/>
                <a:cs typeface="Georgia"/>
              </a:rPr>
              <a:t>Inverser l’état de la </a:t>
            </a:r>
            <a:r>
              <a:rPr lang="fr-FR" sz="1200" spc="-50" dirty="0" err="1" smtClean="0">
                <a:solidFill>
                  <a:srgbClr val="FF0000"/>
                </a:solidFill>
                <a:latin typeface="Georgia"/>
                <a:cs typeface="Georgia"/>
              </a:rPr>
              <a:t>led</a:t>
            </a:r>
            <a:endParaRPr lang="fr-FR" sz="1200" spc="-50" dirty="0" smtClean="0">
              <a:solidFill>
                <a:srgbClr val="FF0000"/>
              </a:solidFill>
              <a:latin typeface="Georgia"/>
              <a:cs typeface="Georgia"/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651993" y="1471615"/>
            <a:ext cx="2833663" cy="4183924"/>
            <a:chOff x="453114" y="1066494"/>
            <a:chExt cx="3165175" cy="5019467"/>
          </a:xfrm>
        </p:grpSpPr>
        <p:sp>
          <p:nvSpPr>
            <p:cNvPr id="125" name="object 67"/>
            <p:cNvSpPr txBox="1"/>
            <p:nvPr/>
          </p:nvSpPr>
          <p:spPr>
            <a:xfrm>
              <a:off x="836600" y="2498127"/>
              <a:ext cx="2736304" cy="481551"/>
            </a:xfrm>
            <a:prstGeom prst="rect">
              <a:avLst/>
            </a:prstGeom>
            <a:solidFill>
              <a:srgbClr val="F79546">
                <a:alpha val="69802"/>
              </a:srgbClr>
            </a:solidFill>
            <a:ln w="15875">
              <a:solidFill>
                <a:srgbClr val="E26C09"/>
              </a:solidFill>
            </a:ln>
          </p:spPr>
          <p:txBody>
            <a:bodyPr vert="horz" wrap="square" lIns="0" tIns="49530" rIns="0" bIns="0" rtlCol="0">
              <a:spAutoFit/>
            </a:bodyPr>
            <a:lstStyle/>
            <a:p>
              <a:pPr marL="584200">
                <a:spcBef>
                  <a:spcPts val="390"/>
                </a:spcBef>
              </a:pPr>
              <a:r>
                <a:rPr lang="fr-FR" sz="1100" b="1" spc="-50" dirty="0">
                  <a:latin typeface="Georgia"/>
                  <a:cs typeface="Georgia"/>
                </a:rPr>
                <a:t>         </a:t>
              </a:r>
              <a:r>
                <a:rPr sz="1100" b="1" spc="-50" dirty="0">
                  <a:latin typeface="Georgia"/>
                  <a:cs typeface="Georgia"/>
                </a:rPr>
                <a:t>INITIALISATION</a:t>
              </a:r>
              <a:endParaRPr sz="1100" b="1" dirty="0">
                <a:latin typeface="Georgia"/>
                <a:cs typeface="Georgia"/>
              </a:endParaRPr>
            </a:p>
            <a:p>
              <a:pPr marL="99060" algn="ctr">
                <a:spcBef>
                  <a:spcPts val="100"/>
                </a:spcBef>
              </a:pPr>
              <a:r>
                <a:rPr lang="fr-FR" sz="1100" spc="-15" dirty="0" smtClean="0">
                  <a:latin typeface="Georgia"/>
                  <a:cs typeface="Georgia"/>
                </a:rPr>
                <a:t>Afficher 1, </a:t>
              </a:r>
              <a:r>
                <a:rPr lang="fr-FR" sz="1100" spc="-15" dirty="0" err="1" smtClean="0">
                  <a:latin typeface="Georgia"/>
                  <a:cs typeface="Georgia"/>
                </a:rPr>
                <a:t>led</a:t>
              </a:r>
              <a:r>
                <a:rPr lang="fr-FR" sz="1100" spc="-15" dirty="0" smtClean="0">
                  <a:latin typeface="Georgia"/>
                  <a:cs typeface="Georgia"/>
                </a:rPr>
                <a:t> éteinte</a:t>
              </a:r>
              <a:endParaRPr sz="1100" dirty="0">
                <a:latin typeface="Georgia"/>
                <a:cs typeface="Georgia"/>
              </a:endParaRPr>
            </a:p>
          </p:txBody>
        </p:sp>
        <p:grpSp>
          <p:nvGrpSpPr>
            <p:cNvPr id="138" name="object 69"/>
            <p:cNvGrpSpPr/>
            <p:nvPr/>
          </p:nvGrpSpPr>
          <p:grpSpPr>
            <a:xfrm>
              <a:off x="1086451" y="4337169"/>
              <a:ext cx="2211838" cy="544259"/>
              <a:chOff x="1366299" y="2879557"/>
              <a:chExt cx="3381605" cy="370065"/>
            </a:xfrm>
          </p:grpSpPr>
          <p:sp>
            <p:nvSpPr>
              <p:cNvPr id="139" name="object 70"/>
              <p:cNvSpPr/>
              <p:nvPr/>
            </p:nvSpPr>
            <p:spPr>
              <a:xfrm>
                <a:off x="1392738" y="2879557"/>
                <a:ext cx="3355166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1800225" h="360045">
                    <a:moveTo>
                      <a:pt x="1800225" y="0"/>
                    </a:moveTo>
                    <a:lnTo>
                      <a:pt x="0" y="0"/>
                    </a:lnTo>
                    <a:lnTo>
                      <a:pt x="0" y="360045"/>
                    </a:lnTo>
                    <a:lnTo>
                      <a:pt x="1800225" y="360045"/>
                    </a:lnTo>
                    <a:lnTo>
                      <a:pt x="1800225" y="0"/>
                    </a:lnTo>
                    <a:close/>
                  </a:path>
                </a:pathLst>
              </a:custGeom>
              <a:solidFill>
                <a:srgbClr val="9BBA58">
                  <a:alpha val="69802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71"/>
              <p:cNvSpPr/>
              <p:nvPr/>
            </p:nvSpPr>
            <p:spPr>
              <a:xfrm>
                <a:off x="1366299" y="2889577"/>
                <a:ext cx="3355164" cy="360045"/>
              </a:xfrm>
              <a:custGeom>
                <a:avLst/>
                <a:gdLst/>
                <a:ahLst/>
                <a:cxnLst/>
                <a:rect l="l" t="t" r="r" b="b"/>
                <a:pathLst>
                  <a:path w="1800225" h="360045">
                    <a:moveTo>
                      <a:pt x="0" y="360045"/>
                    </a:moveTo>
                    <a:lnTo>
                      <a:pt x="1800225" y="360045"/>
                    </a:lnTo>
                    <a:lnTo>
                      <a:pt x="1800225" y="0"/>
                    </a:lnTo>
                    <a:lnTo>
                      <a:pt x="0" y="0"/>
                    </a:lnTo>
                    <a:lnTo>
                      <a:pt x="0" y="360045"/>
                    </a:lnTo>
                    <a:close/>
                  </a:path>
                </a:pathLst>
              </a:custGeom>
              <a:ln w="15875">
                <a:solidFill>
                  <a:srgbClr val="76923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1" name="object 73"/>
            <p:cNvSpPr/>
            <p:nvPr/>
          </p:nvSpPr>
          <p:spPr>
            <a:xfrm>
              <a:off x="2146543" y="5637044"/>
              <a:ext cx="90772" cy="4489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42" name="object 75"/>
            <p:cNvGrpSpPr/>
            <p:nvPr/>
          </p:nvGrpSpPr>
          <p:grpSpPr>
            <a:xfrm>
              <a:off x="453114" y="2943480"/>
              <a:ext cx="1729657" cy="2888934"/>
              <a:chOff x="885814" y="3188301"/>
              <a:chExt cx="2180599" cy="2064134"/>
            </a:xfrm>
          </p:grpSpPr>
          <p:sp>
            <p:nvSpPr>
              <p:cNvPr id="143" name="object 76"/>
              <p:cNvSpPr/>
              <p:nvPr/>
            </p:nvSpPr>
            <p:spPr>
              <a:xfrm>
                <a:off x="3020694" y="3188301"/>
                <a:ext cx="45719" cy="468664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86054">
                    <a:moveTo>
                      <a:pt x="19050" y="135254"/>
                    </a:moveTo>
                    <a:lnTo>
                      <a:pt x="0" y="135254"/>
                    </a:lnTo>
                    <a:lnTo>
                      <a:pt x="25400" y="186054"/>
                    </a:lnTo>
                    <a:lnTo>
                      <a:pt x="41275" y="154304"/>
                    </a:lnTo>
                    <a:lnTo>
                      <a:pt x="21843" y="154304"/>
                    </a:lnTo>
                    <a:lnTo>
                      <a:pt x="19050" y="151510"/>
                    </a:lnTo>
                    <a:lnTo>
                      <a:pt x="19050" y="135254"/>
                    </a:lnTo>
                    <a:close/>
                  </a:path>
                  <a:path w="50800" h="186054">
                    <a:moveTo>
                      <a:pt x="28956" y="0"/>
                    </a:moveTo>
                    <a:lnTo>
                      <a:pt x="21843" y="0"/>
                    </a:lnTo>
                    <a:lnTo>
                      <a:pt x="19050" y="2794"/>
                    </a:lnTo>
                    <a:lnTo>
                      <a:pt x="19050" y="151510"/>
                    </a:lnTo>
                    <a:lnTo>
                      <a:pt x="21843" y="154304"/>
                    </a:lnTo>
                    <a:lnTo>
                      <a:pt x="28956" y="154304"/>
                    </a:lnTo>
                    <a:lnTo>
                      <a:pt x="31750" y="151510"/>
                    </a:lnTo>
                    <a:lnTo>
                      <a:pt x="31750" y="2794"/>
                    </a:lnTo>
                    <a:lnTo>
                      <a:pt x="28956" y="0"/>
                    </a:lnTo>
                    <a:close/>
                  </a:path>
                  <a:path w="50800" h="186054">
                    <a:moveTo>
                      <a:pt x="50800" y="135254"/>
                    </a:moveTo>
                    <a:lnTo>
                      <a:pt x="31750" y="135254"/>
                    </a:lnTo>
                    <a:lnTo>
                      <a:pt x="31750" y="151510"/>
                    </a:lnTo>
                    <a:lnTo>
                      <a:pt x="28956" y="154304"/>
                    </a:lnTo>
                    <a:lnTo>
                      <a:pt x="41275" y="154304"/>
                    </a:lnTo>
                    <a:lnTo>
                      <a:pt x="50800" y="135254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77"/>
              <p:cNvSpPr/>
              <p:nvPr/>
            </p:nvSpPr>
            <p:spPr>
              <a:xfrm>
                <a:off x="885814" y="3294951"/>
                <a:ext cx="2160917" cy="1957484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589914">
                    <a:moveTo>
                      <a:pt x="948055" y="19050"/>
                    </a:moveTo>
                    <a:lnTo>
                      <a:pt x="2793" y="19050"/>
                    </a:lnTo>
                    <a:lnTo>
                      <a:pt x="0" y="21844"/>
                    </a:lnTo>
                    <a:lnTo>
                      <a:pt x="0" y="587121"/>
                    </a:lnTo>
                    <a:lnTo>
                      <a:pt x="2793" y="589915"/>
                    </a:lnTo>
                    <a:lnTo>
                      <a:pt x="1013206" y="589915"/>
                    </a:lnTo>
                    <a:lnTo>
                      <a:pt x="1016000" y="587121"/>
                    </a:lnTo>
                    <a:lnTo>
                      <a:pt x="1016000" y="583565"/>
                    </a:lnTo>
                    <a:lnTo>
                      <a:pt x="12700" y="583565"/>
                    </a:lnTo>
                    <a:lnTo>
                      <a:pt x="6350" y="577215"/>
                    </a:lnTo>
                    <a:lnTo>
                      <a:pt x="12700" y="577215"/>
                    </a:lnTo>
                    <a:lnTo>
                      <a:pt x="12700" y="31750"/>
                    </a:lnTo>
                    <a:lnTo>
                      <a:pt x="6350" y="31750"/>
                    </a:lnTo>
                    <a:lnTo>
                      <a:pt x="12700" y="25400"/>
                    </a:lnTo>
                    <a:lnTo>
                      <a:pt x="948055" y="25400"/>
                    </a:lnTo>
                    <a:lnTo>
                      <a:pt x="948055" y="19050"/>
                    </a:lnTo>
                    <a:close/>
                  </a:path>
                  <a:path w="1016000" h="589914">
                    <a:moveTo>
                      <a:pt x="12700" y="577215"/>
                    </a:moveTo>
                    <a:lnTo>
                      <a:pt x="6350" y="577215"/>
                    </a:lnTo>
                    <a:lnTo>
                      <a:pt x="12700" y="583565"/>
                    </a:lnTo>
                    <a:lnTo>
                      <a:pt x="12700" y="577215"/>
                    </a:lnTo>
                    <a:close/>
                  </a:path>
                  <a:path w="1016000" h="589914">
                    <a:moveTo>
                      <a:pt x="1013206" y="577215"/>
                    </a:moveTo>
                    <a:lnTo>
                      <a:pt x="12700" y="577215"/>
                    </a:lnTo>
                    <a:lnTo>
                      <a:pt x="12700" y="583565"/>
                    </a:lnTo>
                    <a:lnTo>
                      <a:pt x="1016000" y="583565"/>
                    </a:lnTo>
                    <a:lnTo>
                      <a:pt x="1016000" y="580008"/>
                    </a:lnTo>
                    <a:lnTo>
                      <a:pt x="1013206" y="577215"/>
                    </a:lnTo>
                    <a:close/>
                  </a:path>
                  <a:path w="1016000" h="589914">
                    <a:moveTo>
                      <a:pt x="948055" y="0"/>
                    </a:moveTo>
                    <a:lnTo>
                      <a:pt x="948055" y="50800"/>
                    </a:lnTo>
                    <a:lnTo>
                      <a:pt x="986155" y="31750"/>
                    </a:lnTo>
                    <a:lnTo>
                      <a:pt x="964311" y="31750"/>
                    </a:lnTo>
                    <a:lnTo>
                      <a:pt x="967105" y="28955"/>
                    </a:lnTo>
                    <a:lnTo>
                      <a:pt x="967105" y="21844"/>
                    </a:lnTo>
                    <a:lnTo>
                      <a:pt x="964311" y="19050"/>
                    </a:lnTo>
                    <a:lnTo>
                      <a:pt x="986155" y="19050"/>
                    </a:lnTo>
                    <a:lnTo>
                      <a:pt x="948055" y="0"/>
                    </a:lnTo>
                    <a:close/>
                  </a:path>
                  <a:path w="1016000" h="589914">
                    <a:moveTo>
                      <a:pt x="12700" y="25400"/>
                    </a:moveTo>
                    <a:lnTo>
                      <a:pt x="6350" y="31750"/>
                    </a:lnTo>
                    <a:lnTo>
                      <a:pt x="12700" y="31750"/>
                    </a:lnTo>
                    <a:lnTo>
                      <a:pt x="12700" y="25400"/>
                    </a:lnTo>
                    <a:close/>
                  </a:path>
                  <a:path w="1016000" h="589914">
                    <a:moveTo>
                      <a:pt x="948055" y="25400"/>
                    </a:moveTo>
                    <a:lnTo>
                      <a:pt x="12700" y="25400"/>
                    </a:lnTo>
                    <a:lnTo>
                      <a:pt x="12700" y="31750"/>
                    </a:lnTo>
                    <a:lnTo>
                      <a:pt x="948055" y="31750"/>
                    </a:lnTo>
                    <a:lnTo>
                      <a:pt x="948055" y="25400"/>
                    </a:lnTo>
                    <a:close/>
                  </a:path>
                  <a:path w="1016000" h="589914">
                    <a:moveTo>
                      <a:pt x="986155" y="19050"/>
                    </a:moveTo>
                    <a:lnTo>
                      <a:pt x="964311" y="19050"/>
                    </a:lnTo>
                    <a:lnTo>
                      <a:pt x="967105" y="21844"/>
                    </a:lnTo>
                    <a:lnTo>
                      <a:pt x="967105" y="28955"/>
                    </a:lnTo>
                    <a:lnTo>
                      <a:pt x="964311" y="31750"/>
                    </a:lnTo>
                    <a:lnTo>
                      <a:pt x="986155" y="31750"/>
                    </a:lnTo>
                    <a:lnTo>
                      <a:pt x="998855" y="25400"/>
                    </a:lnTo>
                    <a:lnTo>
                      <a:pt x="986155" y="19050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5" name="object 80"/>
            <p:cNvSpPr txBox="1"/>
            <p:nvPr/>
          </p:nvSpPr>
          <p:spPr>
            <a:xfrm>
              <a:off x="2295524" y="1066494"/>
              <a:ext cx="555547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70" dirty="0">
                  <a:latin typeface="Georgia"/>
                  <a:cs typeface="Georgia"/>
                </a:rPr>
                <a:t>D</a:t>
              </a:r>
              <a:r>
                <a:rPr sz="1200" spc="-5" dirty="0">
                  <a:latin typeface="Georgia"/>
                  <a:cs typeface="Georgia"/>
                </a:rPr>
                <a:t>é</a:t>
              </a:r>
              <a:r>
                <a:rPr sz="1200" spc="-15" dirty="0">
                  <a:latin typeface="Georgia"/>
                  <a:cs typeface="Georgia"/>
                </a:rPr>
                <a:t>b</a:t>
              </a:r>
              <a:r>
                <a:rPr sz="1200" spc="-20" dirty="0">
                  <a:latin typeface="Georgia"/>
                  <a:cs typeface="Georgia"/>
                </a:rPr>
                <a:t>ut</a:t>
              </a:r>
              <a:endParaRPr sz="1200" dirty="0">
                <a:latin typeface="Georgia"/>
                <a:cs typeface="Georgia"/>
              </a:endParaRPr>
            </a:p>
          </p:txBody>
        </p:sp>
        <p:sp>
          <p:nvSpPr>
            <p:cNvPr id="146" name="object 81"/>
            <p:cNvSpPr/>
            <p:nvPr/>
          </p:nvSpPr>
          <p:spPr>
            <a:xfrm>
              <a:off x="2089655" y="1106017"/>
              <a:ext cx="127549" cy="415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82"/>
            <p:cNvSpPr txBox="1"/>
            <p:nvPr/>
          </p:nvSpPr>
          <p:spPr>
            <a:xfrm>
              <a:off x="881985" y="1494261"/>
              <a:ext cx="2736304" cy="738943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48260" rIns="0" bIns="0" rtlCol="0">
              <a:spAutoFit/>
            </a:bodyPr>
            <a:lstStyle/>
            <a:p>
              <a:pPr marL="538480">
                <a:spcBef>
                  <a:spcPts val="380"/>
                </a:spcBef>
              </a:pPr>
              <a:r>
                <a:rPr lang="fr-FR" sz="1200" spc="-60" dirty="0">
                  <a:latin typeface="Georgia"/>
                  <a:cs typeface="Georgia"/>
                </a:rPr>
                <a:t>    </a:t>
              </a:r>
              <a:r>
                <a:rPr sz="1100" b="1" spc="-60" dirty="0">
                  <a:latin typeface="Georgia"/>
                  <a:cs typeface="Georgia"/>
                </a:rPr>
                <a:t>CONFIGURARTION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r>
                <a:rPr lang="fr-FR" sz="1100" spc="-15" dirty="0" err="1" smtClean="0">
                  <a:latin typeface="Georgia"/>
                  <a:cs typeface="Georgia"/>
                </a:rPr>
                <a:t>Afficheur,ledV,led</a:t>
              </a:r>
              <a:r>
                <a:rPr lang="fr-FR" sz="1100" spc="-15" dirty="0" smtClean="0">
                  <a:latin typeface="Georgia"/>
                  <a:cs typeface="Georgia"/>
                </a:rPr>
                <a:t> R: sortie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endParaRPr lang="fr-FR" sz="1100" spc="-15" dirty="0">
                <a:latin typeface="Georgia"/>
                <a:cs typeface="Georgia"/>
              </a:endParaRPr>
            </a:p>
          </p:txBody>
        </p:sp>
        <p:sp>
          <p:nvSpPr>
            <p:cNvPr id="148" name="object 83"/>
            <p:cNvSpPr/>
            <p:nvPr/>
          </p:nvSpPr>
          <p:spPr>
            <a:xfrm>
              <a:off x="2141779" y="2138231"/>
              <a:ext cx="45719" cy="336582"/>
            </a:xfrm>
            <a:custGeom>
              <a:avLst/>
              <a:gdLst/>
              <a:ahLst/>
              <a:cxnLst/>
              <a:rect l="l" t="t" r="r" b="b"/>
              <a:pathLst>
                <a:path w="50800" h="150494">
                  <a:moveTo>
                    <a:pt x="19050" y="99694"/>
                  </a:moveTo>
                  <a:lnTo>
                    <a:pt x="0" y="99694"/>
                  </a:lnTo>
                  <a:lnTo>
                    <a:pt x="25400" y="150494"/>
                  </a:lnTo>
                  <a:lnTo>
                    <a:pt x="41275" y="118744"/>
                  </a:lnTo>
                  <a:lnTo>
                    <a:pt x="21843" y="118744"/>
                  </a:lnTo>
                  <a:lnTo>
                    <a:pt x="19050" y="115950"/>
                  </a:lnTo>
                  <a:lnTo>
                    <a:pt x="19050" y="99694"/>
                  </a:lnTo>
                  <a:close/>
                </a:path>
                <a:path w="50800" h="150494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115950"/>
                  </a:lnTo>
                  <a:lnTo>
                    <a:pt x="21843" y="118744"/>
                  </a:lnTo>
                  <a:lnTo>
                    <a:pt x="28956" y="118744"/>
                  </a:lnTo>
                  <a:lnTo>
                    <a:pt x="31750" y="1159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150494">
                  <a:moveTo>
                    <a:pt x="50800" y="99694"/>
                  </a:moveTo>
                  <a:lnTo>
                    <a:pt x="31750" y="99694"/>
                  </a:lnTo>
                  <a:lnTo>
                    <a:pt x="31750" y="115950"/>
                  </a:lnTo>
                  <a:lnTo>
                    <a:pt x="28956" y="118744"/>
                  </a:lnTo>
                  <a:lnTo>
                    <a:pt x="41275" y="118744"/>
                  </a:lnTo>
                  <a:lnTo>
                    <a:pt x="50800" y="996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72"/>
            <p:cNvSpPr txBox="1"/>
            <p:nvPr/>
          </p:nvSpPr>
          <p:spPr>
            <a:xfrm>
              <a:off x="970915" y="4494662"/>
              <a:ext cx="2271569" cy="527706"/>
            </a:xfrm>
            <a:prstGeom prst="rect">
              <a:avLst/>
            </a:prstGeom>
          </p:spPr>
          <p:txBody>
            <a:bodyPr vert="horz" wrap="square" lIns="0" tIns="31750" rIns="0" bIns="0" rtlCol="0">
              <a:spAutoFit/>
            </a:bodyPr>
            <a:lstStyle/>
            <a:p>
              <a:pPr marL="5715" algn="ctr">
                <a:spcBef>
                  <a:spcPts val="250"/>
                </a:spcBef>
              </a:pPr>
              <a:r>
                <a:rPr lang="fr-FR" sz="1200" spc="-50" dirty="0" smtClean="0">
                  <a:latin typeface="Georgia"/>
                  <a:cs typeface="Georgia"/>
                </a:rPr>
                <a:t>Inverser l’état de la </a:t>
              </a:r>
              <a:r>
                <a:rPr lang="fr-FR" sz="1200" spc="-50" dirty="0" err="1" smtClean="0">
                  <a:latin typeface="Georgia"/>
                  <a:cs typeface="Georgia"/>
                </a:rPr>
                <a:t>led</a:t>
              </a:r>
              <a:r>
                <a:rPr lang="fr-FR" sz="1200" spc="-50" dirty="0" smtClean="0">
                  <a:latin typeface="Georgia"/>
                  <a:cs typeface="Georgia"/>
                </a:rPr>
                <a:t> rouge</a:t>
              </a:r>
              <a:endParaRPr lang="fr-FR" sz="1200" spc="-50" dirty="0">
                <a:latin typeface="Georgia"/>
                <a:cs typeface="Georgia"/>
              </a:endParaRPr>
            </a:p>
            <a:p>
              <a:pPr marL="5715" algn="ctr">
                <a:spcBef>
                  <a:spcPts val="250"/>
                </a:spcBef>
              </a:pPr>
              <a:endParaRPr sz="1200" dirty="0">
                <a:latin typeface="Georgia"/>
                <a:cs typeface="Georgia"/>
              </a:endParaRPr>
            </a:p>
          </p:txBody>
        </p:sp>
        <p:sp>
          <p:nvSpPr>
            <p:cNvPr id="153" name="object 51"/>
            <p:cNvSpPr txBox="1"/>
            <p:nvPr/>
          </p:nvSpPr>
          <p:spPr>
            <a:xfrm>
              <a:off x="1428386" y="3762577"/>
              <a:ext cx="1249962" cy="303624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200" spc="-15" dirty="0" smtClean="0">
                  <a:latin typeface="Georgia"/>
                  <a:cs typeface="Georgia"/>
                </a:rPr>
                <a:t>Attendre 1s</a:t>
              </a:r>
              <a:endParaRPr sz="1200" dirty="0">
                <a:latin typeface="Georgia"/>
                <a:cs typeface="Georgia"/>
              </a:endParaRPr>
            </a:p>
          </p:txBody>
        </p:sp>
        <p:cxnSp>
          <p:nvCxnSpPr>
            <p:cNvPr id="161" name="Connecteur droit avec flèche 160"/>
            <p:cNvCxnSpPr/>
            <p:nvPr/>
          </p:nvCxnSpPr>
          <p:spPr>
            <a:xfrm>
              <a:off x="2123431" y="4100261"/>
              <a:ext cx="0" cy="2708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e 8"/>
          <p:cNvGrpSpPr/>
          <p:nvPr/>
        </p:nvGrpSpPr>
        <p:grpSpPr>
          <a:xfrm>
            <a:off x="5324902" y="1860616"/>
            <a:ext cx="2660710" cy="3147228"/>
            <a:chOff x="5324901" y="1021523"/>
            <a:chExt cx="3119791" cy="3725496"/>
          </a:xfrm>
        </p:grpSpPr>
        <p:sp>
          <p:nvSpPr>
            <p:cNvPr id="197" name="object 67"/>
            <p:cNvSpPr txBox="1"/>
            <p:nvPr/>
          </p:nvSpPr>
          <p:spPr>
            <a:xfrm>
              <a:off x="5708388" y="2453156"/>
              <a:ext cx="2736304" cy="493360"/>
            </a:xfrm>
            <a:prstGeom prst="rect">
              <a:avLst/>
            </a:prstGeom>
            <a:solidFill>
              <a:srgbClr val="F79546">
                <a:alpha val="69802"/>
              </a:srgbClr>
            </a:solidFill>
            <a:ln w="15875">
              <a:solidFill>
                <a:srgbClr val="E26C09"/>
              </a:solidFill>
            </a:ln>
          </p:spPr>
          <p:txBody>
            <a:bodyPr vert="horz" wrap="square" lIns="0" tIns="49530" rIns="0" bIns="0" rtlCol="0">
              <a:spAutoFit/>
            </a:bodyPr>
            <a:lstStyle/>
            <a:p>
              <a:pPr marL="584200">
                <a:spcBef>
                  <a:spcPts val="390"/>
                </a:spcBef>
              </a:pPr>
              <a:r>
                <a:rPr lang="fr-FR" sz="1200" b="1" spc="-50" dirty="0">
                  <a:latin typeface="Georgia"/>
                  <a:cs typeface="Georgia"/>
                </a:rPr>
                <a:t>         </a:t>
              </a:r>
              <a:r>
                <a:rPr sz="1100" b="1" spc="-50" dirty="0">
                  <a:latin typeface="Georgia"/>
                  <a:cs typeface="Georgia"/>
                </a:rPr>
                <a:t>INITIALISATION</a:t>
              </a:r>
              <a:endParaRPr sz="1100" b="1" dirty="0">
                <a:latin typeface="Georgia"/>
                <a:cs typeface="Georgia"/>
              </a:endParaRPr>
            </a:p>
            <a:p>
              <a:pPr marL="99060" algn="ctr">
                <a:spcBef>
                  <a:spcPts val="100"/>
                </a:spcBef>
              </a:pPr>
              <a:r>
                <a:rPr lang="fr-FR" sz="1100" spc="-15" dirty="0" smtClean="0">
                  <a:latin typeface="Georgia"/>
                  <a:cs typeface="Georgia"/>
                </a:rPr>
                <a:t>Afficher 1, </a:t>
              </a:r>
              <a:r>
                <a:rPr lang="fr-FR" sz="1100" spc="-15" dirty="0" err="1" smtClean="0">
                  <a:latin typeface="Georgia"/>
                  <a:cs typeface="Georgia"/>
                </a:rPr>
                <a:t>led</a:t>
              </a:r>
              <a:r>
                <a:rPr lang="fr-FR" sz="1100" spc="-15" dirty="0" smtClean="0">
                  <a:latin typeface="Georgia"/>
                  <a:cs typeface="Georgia"/>
                </a:rPr>
                <a:t> éteinte</a:t>
              </a:r>
              <a:endParaRPr sz="1100" dirty="0">
                <a:latin typeface="Georgia"/>
                <a:cs typeface="Georgia"/>
              </a:endParaRPr>
            </a:p>
          </p:txBody>
        </p:sp>
        <p:sp>
          <p:nvSpPr>
            <p:cNvPr id="201" name="object 73"/>
            <p:cNvSpPr/>
            <p:nvPr/>
          </p:nvSpPr>
          <p:spPr>
            <a:xfrm>
              <a:off x="6973928" y="4298103"/>
              <a:ext cx="112753" cy="4489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2" name="object 75"/>
            <p:cNvGrpSpPr/>
            <p:nvPr/>
          </p:nvGrpSpPr>
          <p:grpSpPr>
            <a:xfrm>
              <a:off x="5324901" y="2898509"/>
              <a:ext cx="1729657" cy="1544658"/>
              <a:chOff x="885814" y="3188301"/>
              <a:chExt cx="2180599" cy="1103653"/>
            </a:xfrm>
          </p:grpSpPr>
          <p:sp>
            <p:nvSpPr>
              <p:cNvPr id="203" name="object 76"/>
              <p:cNvSpPr/>
              <p:nvPr/>
            </p:nvSpPr>
            <p:spPr>
              <a:xfrm>
                <a:off x="3020694" y="3188301"/>
                <a:ext cx="45719" cy="468664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86054">
                    <a:moveTo>
                      <a:pt x="19050" y="135254"/>
                    </a:moveTo>
                    <a:lnTo>
                      <a:pt x="0" y="135254"/>
                    </a:lnTo>
                    <a:lnTo>
                      <a:pt x="25400" y="186054"/>
                    </a:lnTo>
                    <a:lnTo>
                      <a:pt x="41275" y="154304"/>
                    </a:lnTo>
                    <a:lnTo>
                      <a:pt x="21843" y="154304"/>
                    </a:lnTo>
                    <a:lnTo>
                      <a:pt x="19050" y="151510"/>
                    </a:lnTo>
                    <a:lnTo>
                      <a:pt x="19050" y="135254"/>
                    </a:lnTo>
                    <a:close/>
                  </a:path>
                  <a:path w="50800" h="186054">
                    <a:moveTo>
                      <a:pt x="28956" y="0"/>
                    </a:moveTo>
                    <a:lnTo>
                      <a:pt x="21843" y="0"/>
                    </a:lnTo>
                    <a:lnTo>
                      <a:pt x="19050" y="2794"/>
                    </a:lnTo>
                    <a:lnTo>
                      <a:pt x="19050" y="151510"/>
                    </a:lnTo>
                    <a:lnTo>
                      <a:pt x="21843" y="154304"/>
                    </a:lnTo>
                    <a:lnTo>
                      <a:pt x="28956" y="154304"/>
                    </a:lnTo>
                    <a:lnTo>
                      <a:pt x="31750" y="151510"/>
                    </a:lnTo>
                    <a:lnTo>
                      <a:pt x="31750" y="2794"/>
                    </a:lnTo>
                    <a:lnTo>
                      <a:pt x="28956" y="0"/>
                    </a:lnTo>
                    <a:close/>
                  </a:path>
                  <a:path w="50800" h="186054">
                    <a:moveTo>
                      <a:pt x="50800" y="135254"/>
                    </a:moveTo>
                    <a:lnTo>
                      <a:pt x="31750" y="135254"/>
                    </a:lnTo>
                    <a:lnTo>
                      <a:pt x="31750" y="151510"/>
                    </a:lnTo>
                    <a:lnTo>
                      <a:pt x="28956" y="154304"/>
                    </a:lnTo>
                    <a:lnTo>
                      <a:pt x="41275" y="154304"/>
                    </a:lnTo>
                    <a:lnTo>
                      <a:pt x="50800" y="135254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77"/>
              <p:cNvSpPr/>
              <p:nvPr/>
            </p:nvSpPr>
            <p:spPr>
              <a:xfrm>
                <a:off x="885814" y="3294950"/>
                <a:ext cx="2160916" cy="997004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589914">
                    <a:moveTo>
                      <a:pt x="948055" y="19050"/>
                    </a:moveTo>
                    <a:lnTo>
                      <a:pt x="2793" y="19050"/>
                    </a:lnTo>
                    <a:lnTo>
                      <a:pt x="0" y="21844"/>
                    </a:lnTo>
                    <a:lnTo>
                      <a:pt x="0" y="587121"/>
                    </a:lnTo>
                    <a:lnTo>
                      <a:pt x="2793" y="589915"/>
                    </a:lnTo>
                    <a:lnTo>
                      <a:pt x="1013206" y="589915"/>
                    </a:lnTo>
                    <a:lnTo>
                      <a:pt x="1016000" y="587121"/>
                    </a:lnTo>
                    <a:lnTo>
                      <a:pt x="1016000" y="583565"/>
                    </a:lnTo>
                    <a:lnTo>
                      <a:pt x="12700" y="583565"/>
                    </a:lnTo>
                    <a:lnTo>
                      <a:pt x="6350" y="577215"/>
                    </a:lnTo>
                    <a:lnTo>
                      <a:pt x="12700" y="577215"/>
                    </a:lnTo>
                    <a:lnTo>
                      <a:pt x="12700" y="31750"/>
                    </a:lnTo>
                    <a:lnTo>
                      <a:pt x="6350" y="31750"/>
                    </a:lnTo>
                    <a:lnTo>
                      <a:pt x="12700" y="25400"/>
                    </a:lnTo>
                    <a:lnTo>
                      <a:pt x="948055" y="25400"/>
                    </a:lnTo>
                    <a:lnTo>
                      <a:pt x="948055" y="19050"/>
                    </a:lnTo>
                    <a:close/>
                  </a:path>
                  <a:path w="1016000" h="589914">
                    <a:moveTo>
                      <a:pt x="12700" y="577215"/>
                    </a:moveTo>
                    <a:lnTo>
                      <a:pt x="6350" y="577215"/>
                    </a:lnTo>
                    <a:lnTo>
                      <a:pt x="12700" y="583565"/>
                    </a:lnTo>
                    <a:lnTo>
                      <a:pt x="12700" y="577215"/>
                    </a:lnTo>
                    <a:close/>
                  </a:path>
                  <a:path w="1016000" h="589914">
                    <a:moveTo>
                      <a:pt x="1013206" y="577215"/>
                    </a:moveTo>
                    <a:lnTo>
                      <a:pt x="12700" y="577215"/>
                    </a:lnTo>
                    <a:lnTo>
                      <a:pt x="12700" y="583565"/>
                    </a:lnTo>
                    <a:lnTo>
                      <a:pt x="1016000" y="583565"/>
                    </a:lnTo>
                    <a:lnTo>
                      <a:pt x="1016000" y="580008"/>
                    </a:lnTo>
                    <a:lnTo>
                      <a:pt x="1013206" y="577215"/>
                    </a:lnTo>
                    <a:close/>
                  </a:path>
                  <a:path w="1016000" h="589914">
                    <a:moveTo>
                      <a:pt x="948055" y="0"/>
                    </a:moveTo>
                    <a:lnTo>
                      <a:pt x="948055" y="50800"/>
                    </a:lnTo>
                    <a:lnTo>
                      <a:pt x="986155" y="31750"/>
                    </a:lnTo>
                    <a:lnTo>
                      <a:pt x="964311" y="31750"/>
                    </a:lnTo>
                    <a:lnTo>
                      <a:pt x="967105" y="28955"/>
                    </a:lnTo>
                    <a:lnTo>
                      <a:pt x="967105" y="21844"/>
                    </a:lnTo>
                    <a:lnTo>
                      <a:pt x="964311" y="19050"/>
                    </a:lnTo>
                    <a:lnTo>
                      <a:pt x="986155" y="19050"/>
                    </a:lnTo>
                    <a:lnTo>
                      <a:pt x="948055" y="0"/>
                    </a:lnTo>
                    <a:close/>
                  </a:path>
                  <a:path w="1016000" h="589914">
                    <a:moveTo>
                      <a:pt x="12700" y="25400"/>
                    </a:moveTo>
                    <a:lnTo>
                      <a:pt x="6350" y="31750"/>
                    </a:lnTo>
                    <a:lnTo>
                      <a:pt x="12700" y="31750"/>
                    </a:lnTo>
                    <a:lnTo>
                      <a:pt x="12700" y="25400"/>
                    </a:lnTo>
                    <a:close/>
                  </a:path>
                  <a:path w="1016000" h="589914">
                    <a:moveTo>
                      <a:pt x="948055" y="25400"/>
                    </a:moveTo>
                    <a:lnTo>
                      <a:pt x="12700" y="25400"/>
                    </a:lnTo>
                    <a:lnTo>
                      <a:pt x="12700" y="31750"/>
                    </a:lnTo>
                    <a:lnTo>
                      <a:pt x="948055" y="31750"/>
                    </a:lnTo>
                    <a:lnTo>
                      <a:pt x="948055" y="25400"/>
                    </a:lnTo>
                    <a:close/>
                  </a:path>
                  <a:path w="1016000" h="589914">
                    <a:moveTo>
                      <a:pt x="986155" y="19050"/>
                    </a:moveTo>
                    <a:lnTo>
                      <a:pt x="964311" y="19050"/>
                    </a:lnTo>
                    <a:lnTo>
                      <a:pt x="967105" y="21844"/>
                    </a:lnTo>
                    <a:lnTo>
                      <a:pt x="967105" y="28955"/>
                    </a:lnTo>
                    <a:lnTo>
                      <a:pt x="964311" y="31750"/>
                    </a:lnTo>
                    <a:lnTo>
                      <a:pt x="986155" y="31750"/>
                    </a:lnTo>
                    <a:lnTo>
                      <a:pt x="998855" y="25400"/>
                    </a:lnTo>
                    <a:lnTo>
                      <a:pt x="986155" y="19050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5" name="object 80"/>
            <p:cNvSpPr txBox="1"/>
            <p:nvPr/>
          </p:nvSpPr>
          <p:spPr>
            <a:xfrm>
              <a:off x="7167311" y="1021523"/>
              <a:ext cx="555547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70" dirty="0">
                  <a:latin typeface="Georgia"/>
                  <a:cs typeface="Georgia"/>
                </a:rPr>
                <a:t>D</a:t>
              </a:r>
              <a:r>
                <a:rPr sz="1200" spc="-5" dirty="0">
                  <a:latin typeface="Georgia"/>
                  <a:cs typeface="Georgia"/>
                </a:rPr>
                <a:t>é</a:t>
              </a:r>
              <a:r>
                <a:rPr sz="1200" spc="-15" dirty="0">
                  <a:latin typeface="Georgia"/>
                  <a:cs typeface="Georgia"/>
                </a:rPr>
                <a:t>b</a:t>
              </a:r>
              <a:r>
                <a:rPr sz="1200" spc="-20" dirty="0">
                  <a:latin typeface="Georgia"/>
                  <a:cs typeface="Georgia"/>
                </a:rPr>
                <a:t>ut</a:t>
              </a:r>
              <a:endParaRPr sz="1200" dirty="0">
                <a:latin typeface="Georgia"/>
                <a:cs typeface="Georgia"/>
              </a:endParaRPr>
            </a:p>
          </p:txBody>
        </p:sp>
        <p:sp>
          <p:nvSpPr>
            <p:cNvPr id="206" name="object 81"/>
            <p:cNvSpPr/>
            <p:nvPr/>
          </p:nvSpPr>
          <p:spPr>
            <a:xfrm>
              <a:off x="6961442" y="1061046"/>
              <a:ext cx="127549" cy="415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82"/>
            <p:cNvSpPr txBox="1"/>
            <p:nvPr/>
          </p:nvSpPr>
          <p:spPr>
            <a:xfrm>
              <a:off x="5687751" y="1449530"/>
              <a:ext cx="2736305" cy="729110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48260" rIns="0" bIns="0" rtlCol="0">
              <a:spAutoFit/>
            </a:bodyPr>
            <a:lstStyle/>
            <a:p>
              <a:pPr marL="538480">
                <a:spcBef>
                  <a:spcPts val="380"/>
                </a:spcBef>
              </a:pPr>
              <a:r>
                <a:rPr lang="fr-FR" sz="1200" spc="-60" dirty="0">
                  <a:latin typeface="Georgia"/>
                  <a:cs typeface="Georgia"/>
                </a:rPr>
                <a:t>    </a:t>
              </a:r>
              <a:r>
                <a:rPr sz="1100" b="1" spc="-60" dirty="0">
                  <a:latin typeface="Georgia"/>
                  <a:cs typeface="Georgia"/>
                </a:rPr>
                <a:t>CONFIGURARTION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r>
                <a:rPr lang="fr-FR" sz="1100" spc="-15" dirty="0" err="1" smtClean="0">
                  <a:latin typeface="Georgia"/>
                  <a:cs typeface="Georgia"/>
                </a:rPr>
                <a:t>Afficheur,led</a:t>
              </a:r>
              <a:r>
                <a:rPr lang="fr-FR" sz="1100" spc="-15" dirty="0" smtClean="0">
                  <a:latin typeface="Georgia"/>
                  <a:cs typeface="Georgia"/>
                </a:rPr>
                <a:t>: sortie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endParaRPr lang="fr-FR" sz="1100" spc="-15" dirty="0">
                <a:latin typeface="Georgia"/>
                <a:cs typeface="Georgia"/>
              </a:endParaRPr>
            </a:p>
          </p:txBody>
        </p:sp>
        <p:sp>
          <p:nvSpPr>
            <p:cNvPr id="208" name="object 83"/>
            <p:cNvSpPr/>
            <p:nvPr/>
          </p:nvSpPr>
          <p:spPr>
            <a:xfrm>
              <a:off x="7013566" y="2093260"/>
              <a:ext cx="45719" cy="336582"/>
            </a:xfrm>
            <a:custGeom>
              <a:avLst/>
              <a:gdLst/>
              <a:ahLst/>
              <a:cxnLst/>
              <a:rect l="l" t="t" r="r" b="b"/>
              <a:pathLst>
                <a:path w="50800" h="150494">
                  <a:moveTo>
                    <a:pt x="19050" y="99694"/>
                  </a:moveTo>
                  <a:lnTo>
                    <a:pt x="0" y="99694"/>
                  </a:lnTo>
                  <a:lnTo>
                    <a:pt x="25400" y="150494"/>
                  </a:lnTo>
                  <a:lnTo>
                    <a:pt x="41275" y="118744"/>
                  </a:lnTo>
                  <a:lnTo>
                    <a:pt x="21843" y="118744"/>
                  </a:lnTo>
                  <a:lnTo>
                    <a:pt x="19050" y="115950"/>
                  </a:lnTo>
                  <a:lnTo>
                    <a:pt x="19050" y="99694"/>
                  </a:lnTo>
                  <a:close/>
                </a:path>
                <a:path w="50800" h="150494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115950"/>
                  </a:lnTo>
                  <a:lnTo>
                    <a:pt x="21843" y="118744"/>
                  </a:lnTo>
                  <a:lnTo>
                    <a:pt x="28956" y="118744"/>
                  </a:lnTo>
                  <a:lnTo>
                    <a:pt x="31750" y="1159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150494">
                  <a:moveTo>
                    <a:pt x="50800" y="99694"/>
                  </a:moveTo>
                  <a:lnTo>
                    <a:pt x="31750" y="99694"/>
                  </a:lnTo>
                  <a:lnTo>
                    <a:pt x="31750" y="115950"/>
                  </a:lnTo>
                  <a:lnTo>
                    <a:pt x="28956" y="118744"/>
                  </a:lnTo>
                  <a:lnTo>
                    <a:pt x="41275" y="118744"/>
                  </a:lnTo>
                  <a:lnTo>
                    <a:pt x="50800" y="996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51"/>
            <p:cNvSpPr txBox="1"/>
            <p:nvPr/>
          </p:nvSpPr>
          <p:spPr>
            <a:xfrm>
              <a:off x="6182085" y="3605288"/>
              <a:ext cx="1696443" cy="641975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200" spc="-15" dirty="0">
                  <a:solidFill>
                    <a:srgbClr val="FF0000"/>
                  </a:solidFill>
                  <a:latin typeface="Georgia"/>
                  <a:cs typeface="Georgia"/>
                </a:rPr>
                <a:t>activer TIMER</a:t>
              </a:r>
              <a:endParaRPr lang="fr-FR" sz="1200" dirty="0">
                <a:solidFill>
                  <a:srgbClr val="FF0000"/>
                </a:solidFill>
                <a:latin typeface="Georgia"/>
                <a:cs typeface="Georgia"/>
              </a:endParaRP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200" spc="-15" dirty="0" smtClean="0">
                  <a:latin typeface="Georgia"/>
                  <a:cs typeface="Georgia"/>
                </a:rPr>
                <a:t>Afficher A </a:t>
              </a:r>
            </a:p>
          </p:txBody>
        </p:sp>
        <p:cxnSp>
          <p:nvCxnSpPr>
            <p:cNvPr id="225" name="Connecteur droit avec flèche 224"/>
            <p:cNvCxnSpPr/>
            <p:nvPr/>
          </p:nvCxnSpPr>
          <p:spPr>
            <a:xfrm flipH="1">
              <a:off x="7020957" y="4305166"/>
              <a:ext cx="2522" cy="2759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ZoneTexte 258"/>
          <p:cNvSpPr txBox="1"/>
          <p:nvPr/>
        </p:nvSpPr>
        <p:spPr>
          <a:xfrm>
            <a:off x="7502759" y="6268760"/>
            <a:ext cx="4014425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1400" dirty="0"/>
              <a:t>L’afficheur </a:t>
            </a:r>
            <a:r>
              <a:rPr lang="fr-FR" sz="1400" dirty="0" smtClean="0"/>
              <a:t>affiche </a:t>
            </a:r>
            <a:r>
              <a:rPr lang="fr-FR" sz="1400" dirty="0"/>
              <a:t>A </a:t>
            </a:r>
            <a:r>
              <a:rPr lang="fr-FR" sz="1400" dirty="0" smtClean="0"/>
              <a:t>dès le départ</a:t>
            </a:r>
            <a:endParaRPr lang="fr-FR" sz="1400" dirty="0"/>
          </a:p>
        </p:txBody>
      </p:sp>
      <p:sp>
        <p:nvSpPr>
          <p:cNvPr id="7" name="ZoneTexte 6"/>
          <p:cNvSpPr txBox="1"/>
          <p:nvPr/>
        </p:nvSpPr>
        <p:spPr>
          <a:xfrm>
            <a:off x="1470172" y="810983"/>
            <a:ext cx="2443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Sans </a:t>
            </a:r>
            <a:r>
              <a:rPr lang="fr-FR" sz="2400" b="1" dirty="0" err="1" smtClean="0"/>
              <a:t>Timer</a:t>
            </a:r>
            <a:endParaRPr lang="fr-FR" sz="2400" b="1" dirty="0"/>
          </a:p>
        </p:txBody>
      </p:sp>
      <p:sp>
        <p:nvSpPr>
          <p:cNvPr id="260" name="ZoneTexte 259"/>
          <p:cNvSpPr txBox="1"/>
          <p:nvPr/>
        </p:nvSpPr>
        <p:spPr>
          <a:xfrm>
            <a:off x="8016885" y="828709"/>
            <a:ext cx="2443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Avec </a:t>
            </a:r>
            <a:r>
              <a:rPr lang="fr-FR" sz="2400" b="1" dirty="0" err="1" smtClean="0"/>
              <a:t>Timer</a:t>
            </a:r>
            <a:endParaRPr lang="fr-FR" sz="2400" b="1" dirty="0"/>
          </a:p>
        </p:txBody>
      </p:sp>
      <p:sp>
        <p:nvSpPr>
          <p:cNvPr id="261" name="ZoneTexte 260"/>
          <p:cNvSpPr txBox="1"/>
          <p:nvPr/>
        </p:nvSpPr>
        <p:spPr>
          <a:xfrm>
            <a:off x="1458320" y="1380469"/>
            <a:ext cx="175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schemeClr val="accent1">
                    <a:lumMod val="75000"/>
                  </a:schemeClr>
                </a:solidFill>
              </a:rPr>
              <a:t>Processeur</a:t>
            </a:r>
            <a:endParaRPr lang="fr-FR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2" name="ZoneTexte 261"/>
          <p:cNvSpPr txBox="1"/>
          <p:nvPr/>
        </p:nvSpPr>
        <p:spPr>
          <a:xfrm>
            <a:off x="6210911" y="1427310"/>
            <a:ext cx="175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schemeClr val="accent1">
                    <a:lumMod val="75000"/>
                  </a:schemeClr>
                </a:solidFill>
              </a:rPr>
              <a:t>Processeur</a:t>
            </a:r>
            <a:endParaRPr lang="fr-FR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3" name="ZoneTexte 262"/>
          <p:cNvSpPr txBox="1"/>
          <p:nvPr/>
        </p:nvSpPr>
        <p:spPr>
          <a:xfrm>
            <a:off x="10103185" y="1470799"/>
            <a:ext cx="175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 smtClean="0">
                <a:solidFill>
                  <a:schemeClr val="accent1">
                    <a:lumMod val="75000"/>
                  </a:schemeClr>
                </a:solidFill>
              </a:rPr>
              <a:t>Timer</a:t>
            </a:r>
            <a:endParaRPr lang="fr-FR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7" name="Connecteur droit avec flèche 106"/>
          <p:cNvCxnSpPr/>
          <p:nvPr/>
        </p:nvCxnSpPr>
        <p:spPr>
          <a:xfrm>
            <a:off x="2164673" y="3475625"/>
            <a:ext cx="7873" cy="223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bject 71"/>
          <p:cNvSpPr/>
          <p:nvPr/>
        </p:nvSpPr>
        <p:spPr>
          <a:xfrm>
            <a:off x="1180265" y="4873118"/>
            <a:ext cx="2041353" cy="370978"/>
          </a:xfrm>
          <a:custGeom>
            <a:avLst/>
            <a:gdLst/>
            <a:ahLst/>
            <a:cxnLst/>
            <a:rect l="l" t="t" r="r" b="b"/>
            <a:pathLst>
              <a:path w="1800225" h="360045">
                <a:moveTo>
                  <a:pt x="0" y="360045"/>
                </a:moveTo>
                <a:lnTo>
                  <a:pt x="1800225" y="360045"/>
                </a:lnTo>
                <a:lnTo>
                  <a:pt x="1800225" y="0"/>
                </a:lnTo>
                <a:lnTo>
                  <a:pt x="0" y="0"/>
                </a:lnTo>
                <a:lnTo>
                  <a:pt x="0" y="3600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5875">
            <a:solidFill>
              <a:srgbClr val="00B0F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0" name="object 72"/>
          <p:cNvSpPr txBox="1"/>
          <p:nvPr/>
        </p:nvSpPr>
        <p:spPr>
          <a:xfrm>
            <a:off x="1122970" y="4977262"/>
            <a:ext cx="1978840" cy="216726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Afficher  A</a:t>
            </a:r>
            <a:endParaRPr sz="1200" dirty="0">
              <a:latin typeface="Georgia"/>
              <a:cs typeface="Georgia"/>
            </a:endParaRPr>
          </a:p>
        </p:txBody>
      </p:sp>
      <p:cxnSp>
        <p:nvCxnSpPr>
          <p:cNvPr id="111" name="Connecteur droit avec flèche 110"/>
          <p:cNvCxnSpPr/>
          <p:nvPr/>
        </p:nvCxnSpPr>
        <p:spPr>
          <a:xfrm flipH="1">
            <a:off x="2161445" y="4655782"/>
            <a:ext cx="1" cy="201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478302" y="3446258"/>
            <a:ext cx="3435067" cy="13227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44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3" grpId="0"/>
      <p:bldP spid="259" grpId="0" animBg="1"/>
      <p:bldP spid="7" grpId="0"/>
      <p:bldP spid="260" grpId="0"/>
      <p:bldP spid="261" grpId="0"/>
      <p:bldP spid="262" grpId="0"/>
      <p:bldP spid="263" grpId="0"/>
      <p:bldP spid="109" grpId="0" animBg="1"/>
      <p:bldP spid="110" grpId="0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</a:t>
            </a:r>
            <a:r>
              <a:rPr lang="fr-FR" dirty="0"/>
              <a:t> Comment on peut calculer le Temps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98495"/>
            <a:ext cx="10515600" cy="383241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 TMR0 génère une interruption chaque </a:t>
            </a:r>
            <a:r>
              <a:rPr lang="fr-FR" dirty="0" smtClean="0"/>
              <a:t>: </a:t>
            </a:r>
          </a:p>
          <a:p>
            <a:pPr marL="0" indent="0">
              <a:buNone/>
            </a:pP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 smtClean="0">
                <a:solidFill>
                  <a:srgbClr val="C00000"/>
                </a:solidFill>
              </a:rPr>
              <a:t>                 (256-Vintiale</a:t>
            </a:r>
            <a:r>
              <a:rPr lang="fr-FR" dirty="0">
                <a:solidFill>
                  <a:srgbClr val="C00000"/>
                </a:solidFill>
              </a:rPr>
              <a:t>)* cycle * </a:t>
            </a:r>
            <a:r>
              <a:rPr lang="fr-FR" dirty="0" err="1">
                <a:solidFill>
                  <a:srgbClr val="C00000"/>
                </a:solidFill>
              </a:rPr>
              <a:t>prédiviseur</a:t>
            </a: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r>
              <a:rPr lang="fr-FR" dirty="0" smtClean="0"/>
              <a:t>Pour calculer une durée on doit :</a:t>
            </a:r>
          </a:p>
          <a:p>
            <a:pPr marL="901700" indent="-514350">
              <a:buFont typeface="+mj-lt"/>
              <a:buAutoNum type="arabicPeriod"/>
            </a:pPr>
            <a:r>
              <a:rPr lang="fr-FR" sz="2400" dirty="0" smtClean="0"/>
              <a:t>Calculer le cycle d’horloge</a:t>
            </a:r>
          </a:p>
          <a:p>
            <a:pPr marL="901700" indent="-514350">
              <a:buFont typeface="+mj-lt"/>
              <a:buAutoNum type="arabicPeriod"/>
            </a:pPr>
            <a:r>
              <a:rPr lang="fr-FR" sz="2400" dirty="0" err="1" smtClean="0"/>
              <a:t>intialiser</a:t>
            </a:r>
            <a:r>
              <a:rPr lang="fr-FR" sz="2400" dirty="0" smtClean="0"/>
              <a:t> le TMR0</a:t>
            </a:r>
          </a:p>
          <a:p>
            <a:pPr marL="901700" indent="-514350">
              <a:buFont typeface="+mj-lt"/>
              <a:buAutoNum type="arabicPeriod"/>
            </a:pPr>
            <a:r>
              <a:rPr lang="fr-FR" sz="2400" dirty="0" smtClean="0"/>
              <a:t>Configurer le </a:t>
            </a:r>
            <a:r>
              <a:rPr lang="fr-FR" sz="2400" dirty="0" err="1" smtClean="0"/>
              <a:t>prédiviseur</a:t>
            </a:r>
            <a:endParaRPr lang="fr-FR" sz="2400" dirty="0" smtClean="0"/>
          </a:p>
          <a:p>
            <a:pPr marL="901700" indent="-514350">
              <a:buFont typeface="+mj-lt"/>
              <a:buAutoNum type="arabicPeriod"/>
            </a:pPr>
            <a:r>
              <a:rPr lang="fr-FR" sz="2400" dirty="0" smtClean="0"/>
              <a:t>Calculer le nombre d’interruption (NB) que va générer le </a:t>
            </a:r>
            <a:r>
              <a:rPr lang="fr-FR" sz="2400" dirty="0" err="1" smtClean="0"/>
              <a:t>timer</a:t>
            </a:r>
            <a:r>
              <a:rPr lang="fr-FR" sz="2400" dirty="0" smtClean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186827" y="5230907"/>
            <a:ext cx="11845833" cy="80271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 smtClean="0"/>
              <a:t> La </a:t>
            </a:r>
            <a:r>
              <a:rPr lang="fr-FR" sz="2000" dirty="0">
                <a:solidFill>
                  <a:schemeClr val="bg1"/>
                </a:solidFill>
              </a:rPr>
              <a:t>durée </a:t>
            </a:r>
            <a:r>
              <a:rPr lang="fr-FR" sz="2000" dirty="0" smtClean="0">
                <a:solidFill>
                  <a:schemeClr val="bg1"/>
                </a:solidFill>
              </a:rPr>
              <a:t>= </a:t>
            </a:r>
            <a:r>
              <a:rPr lang="fr-FR" sz="2000" b="1" dirty="0">
                <a:solidFill>
                  <a:schemeClr val="bg1"/>
                </a:solidFill>
              </a:rPr>
              <a:t>NB *  (256-Vintiale)* cycle * </a:t>
            </a:r>
            <a:r>
              <a:rPr lang="fr-FR" sz="2000" b="1" dirty="0" err="1">
                <a:solidFill>
                  <a:schemeClr val="bg1"/>
                </a:solidFill>
              </a:rPr>
              <a:t>prédiviseur</a:t>
            </a:r>
            <a:endParaRPr lang="fr-FR" sz="20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 smtClean="0">
                <a:solidFill>
                  <a:schemeClr val="bg1"/>
                </a:solidFill>
              </a:rPr>
              <a:t>NB = </a:t>
            </a:r>
            <a:r>
              <a:rPr lang="fr-FR" sz="2000" dirty="0">
                <a:solidFill>
                  <a:schemeClr val="bg1"/>
                </a:solidFill>
              </a:rPr>
              <a:t>La durée </a:t>
            </a:r>
            <a:r>
              <a:rPr lang="fr-FR" sz="2000" dirty="0" smtClean="0">
                <a:solidFill>
                  <a:schemeClr val="bg1"/>
                </a:solidFill>
              </a:rPr>
              <a:t>/ (</a:t>
            </a:r>
            <a:r>
              <a:rPr lang="fr-FR" sz="2000" b="1" dirty="0" smtClean="0">
                <a:solidFill>
                  <a:schemeClr val="bg1"/>
                </a:solidFill>
              </a:rPr>
              <a:t>(</a:t>
            </a:r>
            <a:r>
              <a:rPr lang="fr-FR" sz="2000" b="1" dirty="0">
                <a:solidFill>
                  <a:schemeClr val="bg1"/>
                </a:solidFill>
              </a:rPr>
              <a:t>256-Vintiale)* cycle * </a:t>
            </a:r>
            <a:r>
              <a:rPr lang="fr-FR" sz="2000" b="1" dirty="0" err="1" smtClean="0">
                <a:solidFill>
                  <a:schemeClr val="bg1"/>
                </a:solidFill>
              </a:rPr>
              <a:t>prédiviseur</a:t>
            </a:r>
            <a:r>
              <a:rPr lang="fr-FR" sz="2000" b="1" dirty="0" smtClean="0">
                <a:solidFill>
                  <a:schemeClr val="bg1"/>
                </a:solidFill>
              </a:rPr>
              <a:t>) ; NB doit être &lt;= 256</a:t>
            </a:r>
            <a:endParaRPr lang="fr-FR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77350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Exemple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059" y="2370137"/>
            <a:ext cx="5885329" cy="249769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Cycle = 1µs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TMR0 = 0;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err="1" smtClean="0"/>
              <a:t>Prediviseur</a:t>
            </a:r>
            <a:r>
              <a:rPr lang="fr-FR" sz="2000" dirty="0" smtClean="0"/>
              <a:t> = 1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NB = </a:t>
            </a:r>
            <a:r>
              <a:rPr lang="fr-FR" sz="2000" dirty="0"/>
              <a:t>La durée / ((256-Vintiale)* cycle * </a:t>
            </a:r>
            <a:r>
              <a:rPr lang="fr-FR" sz="2000" dirty="0" err="1"/>
              <a:t>prédiviseur</a:t>
            </a:r>
            <a:r>
              <a:rPr lang="fr-FR" sz="2000" dirty="0"/>
              <a:t>)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          = 1000000/(256*1*1) = ~ 3906 </a:t>
            </a:r>
            <a:r>
              <a:rPr lang="fr-FR" sz="2000" b="1" dirty="0" smtClean="0">
                <a:solidFill>
                  <a:srgbClr val="C00000"/>
                </a:solidFill>
              </a:rPr>
              <a:t>&gt;256 </a:t>
            </a:r>
            <a:endParaRPr lang="fr-FR" sz="2000" b="1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38200" y="1661080"/>
            <a:ext cx="6620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/>
              <a:t>On suppose que F = </a:t>
            </a:r>
            <a:r>
              <a:rPr lang="fr-FR" sz="2400" dirty="0" smtClean="0"/>
              <a:t>4Mhz</a:t>
            </a:r>
            <a:r>
              <a:rPr lang="fr-FR" sz="2400" dirty="0"/>
              <a:t>, la durée à calculer est </a:t>
            </a:r>
            <a:r>
              <a:rPr lang="fr-FR" sz="2400" dirty="0" smtClean="0"/>
              <a:t>1s</a:t>
            </a:r>
            <a:endParaRPr lang="fr-FR" sz="2400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140823" y="2370137"/>
            <a:ext cx="5894295" cy="24976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Cycle = 1µs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TMR0 = 0;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err="1" smtClean="0"/>
              <a:t>Prediviseur</a:t>
            </a:r>
            <a:r>
              <a:rPr lang="fr-FR" sz="2000" dirty="0" smtClean="0"/>
              <a:t> = 256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NB = La durée / ((256-Vintiale)* cycle * </a:t>
            </a:r>
            <a:r>
              <a:rPr lang="fr-FR" sz="2000" dirty="0" err="1" smtClean="0"/>
              <a:t>prédiviseur</a:t>
            </a:r>
            <a:r>
              <a:rPr lang="fr-FR" sz="2000" dirty="0" smtClean="0"/>
              <a:t>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 smtClean="0"/>
              <a:t>               = 1000000/(256*1*256) = ~ 15</a:t>
            </a:r>
          </a:p>
          <a:p>
            <a:pPr marL="514350" indent="-514350">
              <a:buFont typeface="+mj-lt"/>
              <a:buAutoNum type="arabicPeriod"/>
            </a:pPr>
            <a:endParaRPr lang="fr-FR" sz="2000" dirty="0"/>
          </a:p>
        </p:txBody>
      </p:sp>
      <p:cxnSp>
        <p:nvCxnSpPr>
          <p:cNvPr id="9" name="Connecteur droit 8"/>
          <p:cNvCxnSpPr/>
          <p:nvPr/>
        </p:nvCxnSpPr>
        <p:spPr>
          <a:xfrm flipH="1">
            <a:off x="1452282" y="2622176"/>
            <a:ext cx="2501153" cy="2057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358153" y="2635624"/>
            <a:ext cx="2474259" cy="20036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35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Exemple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059" y="2370137"/>
            <a:ext cx="5885329" cy="249769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Cycle = 0.5µs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TMR0 = 0;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err="1" smtClean="0"/>
              <a:t>Prediviseur</a:t>
            </a:r>
            <a:r>
              <a:rPr lang="fr-FR" sz="2000" dirty="0" smtClean="0"/>
              <a:t> = 1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NB = </a:t>
            </a:r>
            <a:r>
              <a:rPr lang="fr-FR" sz="2000" dirty="0"/>
              <a:t>La durée / ((256-Vintiale)* cycle * </a:t>
            </a:r>
            <a:r>
              <a:rPr lang="fr-FR" sz="2000" dirty="0" err="1"/>
              <a:t>prédiviseur</a:t>
            </a:r>
            <a:r>
              <a:rPr lang="fr-FR" sz="2000" dirty="0"/>
              <a:t>)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          = 2000000/(256*0.5*1) = ~ </a:t>
            </a:r>
            <a:r>
              <a:rPr lang="fr-FR" sz="2000" dirty="0" smtClean="0"/>
              <a:t>15 </a:t>
            </a:r>
            <a:r>
              <a:rPr lang="fr-FR" sz="2000" dirty="0" smtClean="0"/>
              <a:t>625 </a:t>
            </a:r>
            <a:r>
              <a:rPr lang="fr-FR" sz="2000" b="1" dirty="0" smtClean="0">
                <a:solidFill>
                  <a:srgbClr val="C00000"/>
                </a:solidFill>
              </a:rPr>
              <a:t>&gt;256 </a:t>
            </a:r>
            <a:endParaRPr lang="fr-FR" sz="2000" b="1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38200" y="1661080"/>
            <a:ext cx="66202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/>
              <a:t>On suppose que F = </a:t>
            </a:r>
            <a:r>
              <a:rPr lang="fr-FR" sz="2400" dirty="0" smtClean="0"/>
              <a:t>8Mhz</a:t>
            </a:r>
            <a:r>
              <a:rPr lang="fr-FR" sz="2400" dirty="0"/>
              <a:t>, la durée à calculer est </a:t>
            </a:r>
            <a:r>
              <a:rPr lang="fr-FR" sz="2400" dirty="0" smtClean="0"/>
              <a:t>2s</a:t>
            </a:r>
            <a:endParaRPr lang="fr-FR" sz="2400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140823" y="2370137"/>
            <a:ext cx="5894295" cy="45882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Cycle = 0,5µs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TMR0 = 0;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err="1" smtClean="0"/>
              <a:t>Prediviseur</a:t>
            </a:r>
            <a:r>
              <a:rPr lang="fr-FR" sz="2000" dirty="0" smtClean="0"/>
              <a:t> = </a:t>
            </a:r>
            <a:r>
              <a:rPr lang="fr-FR" sz="2000" dirty="0" smtClean="0"/>
              <a:t> 128</a:t>
            </a:r>
            <a:endParaRPr lang="fr-FR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NB = La durée / ((256-Vintiale)* cycle * </a:t>
            </a:r>
            <a:r>
              <a:rPr lang="fr-FR" sz="2000" dirty="0" err="1" smtClean="0"/>
              <a:t>prédiviseur</a:t>
            </a:r>
            <a:r>
              <a:rPr lang="fr-FR" sz="2000" dirty="0" smtClean="0"/>
              <a:t>) </a:t>
            </a:r>
          </a:p>
          <a:p>
            <a:pPr marL="0" indent="0">
              <a:buNone/>
            </a:pPr>
            <a:r>
              <a:rPr lang="fr-FR" sz="2000" dirty="0" smtClean="0"/>
              <a:t>               = 2000000/(256*0.5*128) </a:t>
            </a:r>
            <a:r>
              <a:rPr lang="fr-FR" sz="2000" dirty="0"/>
              <a:t>= ~  </a:t>
            </a:r>
            <a:r>
              <a:rPr lang="fr-FR" sz="2000" dirty="0" smtClean="0"/>
              <a:t>122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// </a:t>
            </a:r>
            <a:r>
              <a:rPr lang="fr-FR" sz="2000" dirty="0" err="1" smtClean="0"/>
              <a:t>prédiviseur</a:t>
            </a:r>
            <a:r>
              <a:rPr lang="fr-FR" sz="2000" dirty="0" smtClean="0"/>
              <a:t> = 256 </a:t>
            </a:r>
            <a:r>
              <a:rPr lang="fr-FR" sz="2000" dirty="0" smtClean="0">
                <a:sym typeface="Wingdings" panose="05000000000000000000" pitchFamily="2" charset="2"/>
              </a:rPr>
              <a:t> NB=</a:t>
            </a:r>
            <a:r>
              <a:rPr lang="fr-FR" sz="2000" dirty="0"/>
              <a:t> ~ </a:t>
            </a:r>
            <a:r>
              <a:rPr lang="fr-FR" sz="2000" dirty="0" smtClean="0">
                <a:sym typeface="Wingdings" panose="05000000000000000000" pitchFamily="2" charset="2"/>
              </a:rPr>
              <a:t>61</a:t>
            </a:r>
          </a:p>
          <a:p>
            <a:pPr marL="0" indent="0">
              <a:buNone/>
            </a:pPr>
            <a:r>
              <a:rPr lang="fr-FR" sz="2000" dirty="0" smtClean="0"/>
              <a:t>// </a:t>
            </a:r>
            <a:r>
              <a:rPr lang="fr-FR" sz="2000" dirty="0" err="1"/>
              <a:t>prédiviseur</a:t>
            </a:r>
            <a:r>
              <a:rPr lang="fr-FR" sz="2000" dirty="0"/>
              <a:t> = </a:t>
            </a:r>
            <a:r>
              <a:rPr lang="fr-FR" sz="2000" dirty="0" smtClean="0"/>
              <a:t>128 </a:t>
            </a:r>
            <a:r>
              <a:rPr lang="fr-FR" sz="2000" dirty="0">
                <a:sym typeface="Wingdings" panose="05000000000000000000" pitchFamily="2" charset="2"/>
              </a:rPr>
              <a:t> NB=</a:t>
            </a:r>
            <a:r>
              <a:rPr lang="fr-FR" sz="2000" dirty="0"/>
              <a:t> ~ </a:t>
            </a:r>
            <a:r>
              <a:rPr lang="fr-FR" sz="2000" dirty="0" smtClean="0">
                <a:sym typeface="Wingdings" panose="05000000000000000000" pitchFamily="2" charset="2"/>
              </a:rPr>
              <a:t>122</a:t>
            </a:r>
          </a:p>
          <a:p>
            <a:pPr marL="0" indent="0">
              <a:buNone/>
            </a:pPr>
            <a:r>
              <a:rPr lang="fr-FR" sz="2000" dirty="0" smtClean="0">
                <a:sym typeface="Wingdings" panose="05000000000000000000" pitchFamily="2" charset="2"/>
              </a:rPr>
              <a:t>// </a:t>
            </a:r>
            <a:r>
              <a:rPr lang="fr-FR" sz="2000" dirty="0" err="1" smtClean="0">
                <a:sym typeface="Wingdings" panose="05000000000000000000" pitchFamily="2" charset="2"/>
              </a:rPr>
              <a:t>prédiviseur</a:t>
            </a:r>
            <a:r>
              <a:rPr lang="fr-FR" sz="2000" dirty="0" smtClean="0">
                <a:sym typeface="Wingdings" panose="05000000000000000000" pitchFamily="2" charset="2"/>
              </a:rPr>
              <a:t> = 64    </a:t>
            </a:r>
            <a:r>
              <a:rPr lang="fr-FR" sz="2000" dirty="0">
                <a:sym typeface="Wingdings" panose="05000000000000000000" pitchFamily="2" charset="2"/>
              </a:rPr>
              <a:t> NB=</a:t>
            </a:r>
            <a:r>
              <a:rPr lang="fr-FR" sz="2000" dirty="0"/>
              <a:t> ~ </a:t>
            </a:r>
            <a:r>
              <a:rPr lang="fr-FR" sz="2000" dirty="0" smtClean="0">
                <a:sym typeface="Wingdings" panose="05000000000000000000" pitchFamily="2" charset="2"/>
              </a:rPr>
              <a:t>244</a:t>
            </a:r>
          </a:p>
          <a:p>
            <a:pPr marL="0" indent="0">
              <a:buNone/>
            </a:pPr>
            <a:r>
              <a:rPr lang="fr-FR" sz="2000" dirty="0" smtClean="0">
                <a:sym typeface="Wingdings" panose="05000000000000000000" pitchFamily="2" charset="2"/>
              </a:rPr>
              <a:t>// </a:t>
            </a:r>
            <a:r>
              <a:rPr lang="fr-FR" sz="2000" dirty="0">
                <a:sym typeface="Wingdings" panose="05000000000000000000" pitchFamily="2" charset="2"/>
              </a:rPr>
              <a:t> </a:t>
            </a:r>
            <a:r>
              <a:rPr lang="fr-FR" sz="2000" dirty="0" err="1">
                <a:sym typeface="Wingdings" panose="05000000000000000000" pitchFamily="2" charset="2"/>
              </a:rPr>
              <a:t>prédiviseur</a:t>
            </a:r>
            <a:r>
              <a:rPr lang="fr-FR" sz="2000" dirty="0">
                <a:sym typeface="Wingdings" panose="05000000000000000000" pitchFamily="2" charset="2"/>
              </a:rPr>
              <a:t> = </a:t>
            </a:r>
            <a:r>
              <a:rPr lang="fr-FR" sz="2000" dirty="0" smtClean="0">
                <a:sym typeface="Wingdings" panose="05000000000000000000" pitchFamily="2" charset="2"/>
              </a:rPr>
              <a:t>32   </a:t>
            </a:r>
            <a:r>
              <a:rPr lang="fr-FR" sz="2000" dirty="0">
                <a:sym typeface="Wingdings" panose="05000000000000000000" pitchFamily="2" charset="2"/>
              </a:rPr>
              <a:t>  NB=</a:t>
            </a:r>
            <a:r>
              <a:rPr lang="fr-FR" sz="2000" dirty="0"/>
              <a:t> ~ </a:t>
            </a:r>
            <a:r>
              <a:rPr lang="fr-FR" sz="2000" dirty="0" smtClean="0">
                <a:sym typeface="Wingdings" panose="05000000000000000000" pitchFamily="2" charset="2"/>
              </a:rPr>
              <a:t>488     </a:t>
            </a:r>
            <a:r>
              <a:rPr lang="fr-FR" sz="2000" b="1" dirty="0" smtClean="0">
                <a:solidFill>
                  <a:srgbClr val="C00000"/>
                </a:solidFill>
              </a:rPr>
              <a:t>&gt;</a:t>
            </a:r>
            <a:r>
              <a:rPr lang="fr-FR" sz="2000" b="1" dirty="0">
                <a:solidFill>
                  <a:srgbClr val="C00000"/>
                </a:solidFill>
              </a:rPr>
              <a:t>256 </a:t>
            </a:r>
            <a:endParaRPr lang="fr-F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sz="2000" dirty="0" smtClean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sz="2000" dirty="0"/>
          </a:p>
        </p:txBody>
      </p:sp>
      <p:cxnSp>
        <p:nvCxnSpPr>
          <p:cNvPr id="9" name="Connecteur droit 8"/>
          <p:cNvCxnSpPr/>
          <p:nvPr/>
        </p:nvCxnSpPr>
        <p:spPr>
          <a:xfrm flipH="1">
            <a:off x="1452282" y="2622176"/>
            <a:ext cx="2501153" cy="2057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358153" y="2635624"/>
            <a:ext cx="2474259" cy="20036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367346" y="6423256"/>
            <a:ext cx="35683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88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0101" y="-129395"/>
            <a:ext cx="8229600" cy="1143000"/>
          </a:xfrm>
        </p:spPr>
        <p:txBody>
          <a:bodyPr>
            <a:normAutofit/>
          </a:bodyPr>
          <a:lstStyle/>
          <a:p>
            <a:r>
              <a:rPr lang="fr-CA" sz="2800" b="1" dirty="0" smtClean="0">
                <a:latin typeface="Segoe UI" pitchFamily="34" charset="0"/>
                <a:cs typeface="Segoe UI" pitchFamily="34" charset="0"/>
              </a:rPr>
              <a:t>Exemple de mesure de temps</a:t>
            </a:r>
            <a:endParaRPr lang="fr-FR" sz="2800" dirty="0"/>
          </a:p>
        </p:txBody>
      </p:sp>
      <p:grpSp>
        <p:nvGrpSpPr>
          <p:cNvPr id="9" name="Groupe 8"/>
          <p:cNvGrpSpPr/>
          <p:nvPr/>
        </p:nvGrpSpPr>
        <p:grpSpPr>
          <a:xfrm>
            <a:off x="1680589" y="758930"/>
            <a:ext cx="3254895" cy="4488470"/>
            <a:chOff x="5311867" y="1021523"/>
            <a:chExt cx="3132825" cy="4333891"/>
          </a:xfrm>
        </p:grpSpPr>
        <p:sp>
          <p:nvSpPr>
            <p:cNvPr id="197" name="object 67"/>
            <p:cNvSpPr txBox="1"/>
            <p:nvPr/>
          </p:nvSpPr>
          <p:spPr>
            <a:xfrm>
              <a:off x="5683219" y="3311325"/>
              <a:ext cx="2736304" cy="493360"/>
            </a:xfrm>
            <a:prstGeom prst="rect">
              <a:avLst/>
            </a:prstGeom>
            <a:solidFill>
              <a:srgbClr val="F79546">
                <a:alpha val="69802"/>
              </a:srgbClr>
            </a:solidFill>
            <a:ln w="15875">
              <a:solidFill>
                <a:srgbClr val="E26C09"/>
              </a:solidFill>
            </a:ln>
          </p:spPr>
          <p:txBody>
            <a:bodyPr vert="horz" wrap="square" lIns="0" tIns="49530" rIns="0" bIns="0" rtlCol="0">
              <a:spAutoFit/>
            </a:bodyPr>
            <a:lstStyle/>
            <a:p>
              <a:pPr marL="584200">
                <a:spcBef>
                  <a:spcPts val="390"/>
                </a:spcBef>
              </a:pPr>
              <a:r>
                <a:rPr lang="fr-FR" sz="1200" b="1" spc="-50" dirty="0">
                  <a:latin typeface="Georgia"/>
                  <a:cs typeface="Georgia"/>
                </a:rPr>
                <a:t>         </a:t>
              </a:r>
              <a:r>
                <a:rPr sz="1100" b="1" spc="-50" dirty="0">
                  <a:latin typeface="Georgia"/>
                  <a:cs typeface="Georgia"/>
                </a:rPr>
                <a:t>INITIALISATION</a:t>
              </a:r>
              <a:endParaRPr sz="1100" b="1" dirty="0">
                <a:latin typeface="Georgia"/>
                <a:cs typeface="Georgia"/>
              </a:endParaRPr>
            </a:p>
            <a:p>
              <a:pPr marL="99060" algn="ctr">
                <a:spcBef>
                  <a:spcPts val="100"/>
                </a:spcBef>
              </a:pPr>
              <a:r>
                <a:rPr lang="fr-FR" sz="1100" spc="-15" dirty="0">
                  <a:latin typeface="Georgia"/>
                  <a:cs typeface="Georgia"/>
                </a:rPr>
                <a:t>Afficheur </a:t>
              </a:r>
              <a:r>
                <a:rPr lang="fr-FR" sz="1100" spc="-15" dirty="0" smtClean="0">
                  <a:latin typeface="Georgia"/>
                  <a:cs typeface="Georgia"/>
                </a:rPr>
                <a:t>éteint, </a:t>
              </a:r>
              <a:r>
                <a:rPr lang="fr-FR" sz="1100" spc="-15" dirty="0" err="1" smtClean="0">
                  <a:latin typeface="Georgia"/>
                  <a:cs typeface="Georgia"/>
                </a:rPr>
                <a:t>led</a:t>
              </a:r>
              <a:r>
                <a:rPr lang="fr-FR" sz="1100" spc="-15" dirty="0" smtClean="0">
                  <a:latin typeface="Georgia"/>
                  <a:cs typeface="Georgia"/>
                </a:rPr>
                <a:t> éteinte</a:t>
              </a:r>
              <a:endParaRPr sz="1100" dirty="0">
                <a:latin typeface="Georgia"/>
                <a:cs typeface="Georgia"/>
              </a:endParaRPr>
            </a:p>
          </p:txBody>
        </p:sp>
        <p:sp>
          <p:nvSpPr>
            <p:cNvPr id="201" name="object 73"/>
            <p:cNvSpPr/>
            <p:nvPr/>
          </p:nvSpPr>
          <p:spPr>
            <a:xfrm>
              <a:off x="6980874" y="4906497"/>
              <a:ext cx="90772" cy="4489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2" name="object 75"/>
            <p:cNvGrpSpPr/>
            <p:nvPr/>
          </p:nvGrpSpPr>
          <p:grpSpPr>
            <a:xfrm>
              <a:off x="5311867" y="3835931"/>
              <a:ext cx="1732176" cy="1157327"/>
              <a:chOff x="869382" y="3858084"/>
              <a:chExt cx="2183774" cy="826906"/>
            </a:xfrm>
          </p:grpSpPr>
          <p:sp>
            <p:nvSpPr>
              <p:cNvPr id="203" name="object 76"/>
              <p:cNvSpPr/>
              <p:nvPr/>
            </p:nvSpPr>
            <p:spPr>
              <a:xfrm>
                <a:off x="3007438" y="3858084"/>
                <a:ext cx="45718" cy="468664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86054">
                    <a:moveTo>
                      <a:pt x="19050" y="135254"/>
                    </a:moveTo>
                    <a:lnTo>
                      <a:pt x="0" y="135254"/>
                    </a:lnTo>
                    <a:lnTo>
                      <a:pt x="25400" y="186054"/>
                    </a:lnTo>
                    <a:lnTo>
                      <a:pt x="41275" y="154304"/>
                    </a:lnTo>
                    <a:lnTo>
                      <a:pt x="21843" y="154304"/>
                    </a:lnTo>
                    <a:lnTo>
                      <a:pt x="19050" y="151510"/>
                    </a:lnTo>
                    <a:lnTo>
                      <a:pt x="19050" y="135254"/>
                    </a:lnTo>
                    <a:close/>
                  </a:path>
                  <a:path w="50800" h="186054">
                    <a:moveTo>
                      <a:pt x="28956" y="0"/>
                    </a:moveTo>
                    <a:lnTo>
                      <a:pt x="21843" y="0"/>
                    </a:lnTo>
                    <a:lnTo>
                      <a:pt x="19050" y="2794"/>
                    </a:lnTo>
                    <a:lnTo>
                      <a:pt x="19050" y="151510"/>
                    </a:lnTo>
                    <a:lnTo>
                      <a:pt x="21843" y="154304"/>
                    </a:lnTo>
                    <a:lnTo>
                      <a:pt x="28956" y="154304"/>
                    </a:lnTo>
                    <a:lnTo>
                      <a:pt x="31750" y="151510"/>
                    </a:lnTo>
                    <a:lnTo>
                      <a:pt x="31750" y="2794"/>
                    </a:lnTo>
                    <a:lnTo>
                      <a:pt x="28956" y="0"/>
                    </a:lnTo>
                    <a:close/>
                  </a:path>
                  <a:path w="50800" h="186054">
                    <a:moveTo>
                      <a:pt x="50800" y="135254"/>
                    </a:moveTo>
                    <a:lnTo>
                      <a:pt x="31750" y="135254"/>
                    </a:lnTo>
                    <a:lnTo>
                      <a:pt x="31750" y="151510"/>
                    </a:lnTo>
                    <a:lnTo>
                      <a:pt x="28956" y="154304"/>
                    </a:lnTo>
                    <a:lnTo>
                      <a:pt x="41275" y="154304"/>
                    </a:lnTo>
                    <a:lnTo>
                      <a:pt x="50800" y="135254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77"/>
              <p:cNvSpPr/>
              <p:nvPr/>
            </p:nvSpPr>
            <p:spPr>
              <a:xfrm>
                <a:off x="869382" y="3975167"/>
                <a:ext cx="2160915" cy="709823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589914">
                    <a:moveTo>
                      <a:pt x="948055" y="19050"/>
                    </a:moveTo>
                    <a:lnTo>
                      <a:pt x="2793" y="19050"/>
                    </a:lnTo>
                    <a:lnTo>
                      <a:pt x="0" y="21844"/>
                    </a:lnTo>
                    <a:lnTo>
                      <a:pt x="0" y="587121"/>
                    </a:lnTo>
                    <a:lnTo>
                      <a:pt x="2793" y="589915"/>
                    </a:lnTo>
                    <a:lnTo>
                      <a:pt x="1013206" y="589915"/>
                    </a:lnTo>
                    <a:lnTo>
                      <a:pt x="1016000" y="587121"/>
                    </a:lnTo>
                    <a:lnTo>
                      <a:pt x="1016000" y="583565"/>
                    </a:lnTo>
                    <a:lnTo>
                      <a:pt x="12700" y="583565"/>
                    </a:lnTo>
                    <a:lnTo>
                      <a:pt x="6350" y="577215"/>
                    </a:lnTo>
                    <a:lnTo>
                      <a:pt x="12700" y="577215"/>
                    </a:lnTo>
                    <a:lnTo>
                      <a:pt x="12700" y="31750"/>
                    </a:lnTo>
                    <a:lnTo>
                      <a:pt x="6350" y="31750"/>
                    </a:lnTo>
                    <a:lnTo>
                      <a:pt x="12700" y="25400"/>
                    </a:lnTo>
                    <a:lnTo>
                      <a:pt x="948055" y="25400"/>
                    </a:lnTo>
                    <a:lnTo>
                      <a:pt x="948055" y="19050"/>
                    </a:lnTo>
                    <a:close/>
                  </a:path>
                  <a:path w="1016000" h="589914">
                    <a:moveTo>
                      <a:pt x="12700" y="577215"/>
                    </a:moveTo>
                    <a:lnTo>
                      <a:pt x="6350" y="577215"/>
                    </a:lnTo>
                    <a:lnTo>
                      <a:pt x="12700" y="583565"/>
                    </a:lnTo>
                    <a:lnTo>
                      <a:pt x="12700" y="577215"/>
                    </a:lnTo>
                    <a:close/>
                  </a:path>
                  <a:path w="1016000" h="589914">
                    <a:moveTo>
                      <a:pt x="1013206" y="577215"/>
                    </a:moveTo>
                    <a:lnTo>
                      <a:pt x="12700" y="577215"/>
                    </a:lnTo>
                    <a:lnTo>
                      <a:pt x="12700" y="583565"/>
                    </a:lnTo>
                    <a:lnTo>
                      <a:pt x="1016000" y="583565"/>
                    </a:lnTo>
                    <a:lnTo>
                      <a:pt x="1016000" y="580008"/>
                    </a:lnTo>
                    <a:lnTo>
                      <a:pt x="1013206" y="577215"/>
                    </a:lnTo>
                    <a:close/>
                  </a:path>
                  <a:path w="1016000" h="589914">
                    <a:moveTo>
                      <a:pt x="948055" y="0"/>
                    </a:moveTo>
                    <a:lnTo>
                      <a:pt x="948055" y="50800"/>
                    </a:lnTo>
                    <a:lnTo>
                      <a:pt x="986155" y="31750"/>
                    </a:lnTo>
                    <a:lnTo>
                      <a:pt x="964311" y="31750"/>
                    </a:lnTo>
                    <a:lnTo>
                      <a:pt x="967105" y="28955"/>
                    </a:lnTo>
                    <a:lnTo>
                      <a:pt x="967105" y="21844"/>
                    </a:lnTo>
                    <a:lnTo>
                      <a:pt x="964311" y="19050"/>
                    </a:lnTo>
                    <a:lnTo>
                      <a:pt x="986155" y="19050"/>
                    </a:lnTo>
                    <a:lnTo>
                      <a:pt x="948055" y="0"/>
                    </a:lnTo>
                    <a:close/>
                  </a:path>
                  <a:path w="1016000" h="589914">
                    <a:moveTo>
                      <a:pt x="12700" y="25400"/>
                    </a:moveTo>
                    <a:lnTo>
                      <a:pt x="6350" y="31750"/>
                    </a:lnTo>
                    <a:lnTo>
                      <a:pt x="12700" y="31750"/>
                    </a:lnTo>
                    <a:lnTo>
                      <a:pt x="12700" y="25400"/>
                    </a:lnTo>
                    <a:close/>
                  </a:path>
                  <a:path w="1016000" h="589914">
                    <a:moveTo>
                      <a:pt x="948055" y="25400"/>
                    </a:moveTo>
                    <a:lnTo>
                      <a:pt x="12700" y="25400"/>
                    </a:lnTo>
                    <a:lnTo>
                      <a:pt x="12700" y="31750"/>
                    </a:lnTo>
                    <a:lnTo>
                      <a:pt x="948055" y="31750"/>
                    </a:lnTo>
                    <a:lnTo>
                      <a:pt x="948055" y="25400"/>
                    </a:lnTo>
                    <a:close/>
                  </a:path>
                  <a:path w="1016000" h="589914">
                    <a:moveTo>
                      <a:pt x="986155" y="19050"/>
                    </a:moveTo>
                    <a:lnTo>
                      <a:pt x="964311" y="19050"/>
                    </a:lnTo>
                    <a:lnTo>
                      <a:pt x="967105" y="21844"/>
                    </a:lnTo>
                    <a:lnTo>
                      <a:pt x="967105" y="28955"/>
                    </a:lnTo>
                    <a:lnTo>
                      <a:pt x="964311" y="31750"/>
                    </a:lnTo>
                    <a:lnTo>
                      <a:pt x="986155" y="31750"/>
                    </a:lnTo>
                    <a:lnTo>
                      <a:pt x="998855" y="25400"/>
                    </a:lnTo>
                    <a:lnTo>
                      <a:pt x="986155" y="19050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5" name="object 80"/>
            <p:cNvSpPr txBox="1"/>
            <p:nvPr/>
          </p:nvSpPr>
          <p:spPr>
            <a:xfrm>
              <a:off x="7167311" y="1021523"/>
              <a:ext cx="555547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70" dirty="0">
                  <a:latin typeface="Georgia"/>
                  <a:cs typeface="Georgia"/>
                </a:rPr>
                <a:t>D</a:t>
              </a:r>
              <a:r>
                <a:rPr sz="1200" spc="-5" dirty="0">
                  <a:latin typeface="Georgia"/>
                  <a:cs typeface="Georgia"/>
                </a:rPr>
                <a:t>é</a:t>
              </a:r>
              <a:r>
                <a:rPr sz="1200" spc="-15" dirty="0">
                  <a:latin typeface="Georgia"/>
                  <a:cs typeface="Georgia"/>
                </a:rPr>
                <a:t>b</a:t>
              </a:r>
              <a:r>
                <a:rPr sz="1200" spc="-20" dirty="0">
                  <a:latin typeface="Georgia"/>
                  <a:cs typeface="Georgia"/>
                </a:rPr>
                <a:t>ut</a:t>
              </a:r>
              <a:endParaRPr sz="1200" dirty="0">
                <a:latin typeface="Georgia"/>
                <a:cs typeface="Georgia"/>
              </a:endParaRPr>
            </a:p>
          </p:txBody>
        </p:sp>
        <p:sp>
          <p:nvSpPr>
            <p:cNvPr id="206" name="object 81"/>
            <p:cNvSpPr/>
            <p:nvPr/>
          </p:nvSpPr>
          <p:spPr>
            <a:xfrm>
              <a:off x="6972650" y="1126161"/>
              <a:ext cx="127549" cy="415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82"/>
            <p:cNvSpPr txBox="1"/>
            <p:nvPr/>
          </p:nvSpPr>
          <p:spPr>
            <a:xfrm>
              <a:off x="5708388" y="1552935"/>
              <a:ext cx="2736304" cy="1396423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48260" rIns="0" bIns="0" rtlCol="0">
              <a:spAutoFit/>
            </a:bodyPr>
            <a:lstStyle/>
            <a:p>
              <a:pPr marL="538480">
                <a:spcBef>
                  <a:spcPts val="380"/>
                </a:spcBef>
              </a:pPr>
              <a:r>
                <a:rPr lang="fr-FR" sz="1200" spc="-60" dirty="0">
                  <a:latin typeface="Georgia"/>
                  <a:cs typeface="Georgia"/>
                </a:rPr>
                <a:t>    </a:t>
              </a:r>
              <a:r>
                <a:rPr sz="1100" b="1" spc="-60" dirty="0">
                  <a:latin typeface="Georgia"/>
                  <a:cs typeface="Georgia"/>
                </a:rPr>
                <a:t>CONFIGURARTION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r>
                <a:rPr lang="fr-FR" sz="1100" spc="-15" dirty="0" err="1" smtClean="0">
                  <a:latin typeface="Georgia"/>
                  <a:cs typeface="Georgia"/>
                </a:rPr>
                <a:t>Afficheur,led</a:t>
              </a:r>
              <a:r>
                <a:rPr lang="fr-FR" sz="1100" spc="-15" dirty="0" smtClean="0">
                  <a:latin typeface="Georgia"/>
                  <a:cs typeface="Georgia"/>
                </a:rPr>
                <a:t>: sortie</a:t>
              </a:r>
              <a:endParaRPr lang="fr-FR" sz="1100" spc="-15" dirty="0">
                <a:latin typeface="Georgia"/>
                <a:cs typeface="Georgia"/>
              </a:endParaRP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>
                  <a:solidFill>
                    <a:srgbClr val="FF0000"/>
                  </a:solidFill>
                  <a:latin typeface="Georgia"/>
                  <a:cs typeface="Georgia"/>
                </a:rPr>
                <a:t>activer interruption TIMER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>
                  <a:solidFill>
                    <a:srgbClr val="FF0000"/>
                  </a:solidFill>
                  <a:latin typeface="Georgia"/>
                  <a:cs typeface="Georgia"/>
                </a:rPr>
                <a:t>Initialiser TMR0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>
                  <a:solidFill>
                    <a:srgbClr val="FF0000"/>
                  </a:solidFill>
                  <a:latin typeface="Georgia"/>
                  <a:cs typeface="Georgia"/>
                </a:rPr>
                <a:t>Choisir </a:t>
              </a:r>
              <a:r>
                <a:rPr lang="fr-FR" sz="1100" spc="-15" dirty="0" err="1">
                  <a:solidFill>
                    <a:srgbClr val="FF0000"/>
                  </a:solidFill>
                  <a:latin typeface="Georgia"/>
                  <a:cs typeface="Georgia"/>
                </a:rPr>
                <a:t>prédiviseur</a:t>
              </a:r>
              <a:endParaRPr lang="fr-FR" sz="1100" spc="-15" dirty="0">
                <a:solidFill>
                  <a:srgbClr val="FF0000"/>
                </a:solidFill>
                <a:latin typeface="Georgia"/>
                <a:cs typeface="Georgia"/>
              </a:endParaRP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dirty="0">
                  <a:solidFill>
                    <a:srgbClr val="FF0000"/>
                  </a:solidFill>
                  <a:latin typeface="Georgia"/>
                  <a:cs typeface="Georgia"/>
                </a:rPr>
                <a:t>Initialiser le </a:t>
              </a:r>
              <a:r>
                <a:rPr lang="fr-FR" sz="1100" dirty="0" smtClean="0">
                  <a:solidFill>
                    <a:srgbClr val="FF0000"/>
                  </a:solidFill>
                  <a:latin typeface="Georgia"/>
                  <a:cs typeface="Georgia"/>
                </a:rPr>
                <a:t>NB</a:t>
              </a:r>
              <a:endParaRPr lang="fr-FR" sz="1100" spc="-15" dirty="0">
                <a:latin typeface="Georgia"/>
                <a:cs typeface="Georgia"/>
              </a:endParaRPr>
            </a:p>
          </p:txBody>
        </p:sp>
        <p:sp>
          <p:nvSpPr>
            <p:cNvPr id="208" name="object 83"/>
            <p:cNvSpPr/>
            <p:nvPr/>
          </p:nvSpPr>
          <p:spPr>
            <a:xfrm>
              <a:off x="7040258" y="3058440"/>
              <a:ext cx="44004" cy="212650"/>
            </a:xfrm>
            <a:custGeom>
              <a:avLst/>
              <a:gdLst/>
              <a:ahLst/>
              <a:cxnLst/>
              <a:rect l="l" t="t" r="r" b="b"/>
              <a:pathLst>
                <a:path w="50800" h="150494">
                  <a:moveTo>
                    <a:pt x="19050" y="99694"/>
                  </a:moveTo>
                  <a:lnTo>
                    <a:pt x="0" y="99694"/>
                  </a:lnTo>
                  <a:lnTo>
                    <a:pt x="25400" y="150494"/>
                  </a:lnTo>
                  <a:lnTo>
                    <a:pt x="41275" y="118744"/>
                  </a:lnTo>
                  <a:lnTo>
                    <a:pt x="21843" y="118744"/>
                  </a:lnTo>
                  <a:lnTo>
                    <a:pt x="19050" y="115950"/>
                  </a:lnTo>
                  <a:lnTo>
                    <a:pt x="19050" y="99694"/>
                  </a:lnTo>
                  <a:close/>
                </a:path>
                <a:path w="50800" h="150494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115950"/>
                  </a:lnTo>
                  <a:lnTo>
                    <a:pt x="21843" y="118744"/>
                  </a:lnTo>
                  <a:lnTo>
                    <a:pt x="28956" y="118744"/>
                  </a:lnTo>
                  <a:lnTo>
                    <a:pt x="31750" y="1159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150494">
                  <a:moveTo>
                    <a:pt x="50800" y="99694"/>
                  </a:moveTo>
                  <a:lnTo>
                    <a:pt x="31750" y="99694"/>
                  </a:lnTo>
                  <a:lnTo>
                    <a:pt x="31750" y="115950"/>
                  </a:lnTo>
                  <a:lnTo>
                    <a:pt x="28956" y="118744"/>
                  </a:lnTo>
                  <a:lnTo>
                    <a:pt x="41275" y="118744"/>
                  </a:lnTo>
                  <a:lnTo>
                    <a:pt x="50800" y="996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ZoneTexte 132"/>
          <p:cNvSpPr txBox="1"/>
          <p:nvPr/>
        </p:nvSpPr>
        <p:spPr>
          <a:xfrm>
            <a:off x="7195938" y="809599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Fonction Interruption </a:t>
            </a:r>
            <a:r>
              <a:rPr lang="fr-FR" b="1" dirty="0" err="1" smtClean="0">
                <a:solidFill>
                  <a:srgbClr val="FF0000"/>
                </a:solidFill>
              </a:rPr>
              <a:t>interrupt</a:t>
            </a:r>
            <a:r>
              <a:rPr lang="fr-FR" b="1" dirty="0" smtClean="0">
                <a:solidFill>
                  <a:srgbClr val="FF0000"/>
                </a:solidFill>
              </a:rPr>
              <a:t>()</a:t>
            </a:r>
            <a:endParaRPr lang="fr-FR" b="1" dirty="0">
              <a:solidFill>
                <a:srgbClr val="FF0000"/>
              </a:solidFill>
            </a:endParaRPr>
          </a:p>
        </p:txBody>
      </p:sp>
      <p:grpSp>
        <p:nvGrpSpPr>
          <p:cNvPr id="134" name="object 45"/>
          <p:cNvGrpSpPr/>
          <p:nvPr/>
        </p:nvGrpSpPr>
        <p:grpSpPr>
          <a:xfrm>
            <a:off x="8739988" y="3910191"/>
            <a:ext cx="436904" cy="250976"/>
            <a:chOff x="2605595" y="6921182"/>
            <a:chExt cx="1096645" cy="213995"/>
          </a:xfrm>
        </p:grpSpPr>
        <p:sp>
          <p:nvSpPr>
            <p:cNvPr id="135" name="object 46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oui</a:t>
              </a:r>
              <a:endParaRPr sz="1200" dirty="0"/>
            </a:p>
          </p:txBody>
        </p:sp>
        <p:sp>
          <p:nvSpPr>
            <p:cNvPr id="136" name="object 47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37" name="object 49"/>
          <p:cNvSpPr txBox="1"/>
          <p:nvPr/>
        </p:nvSpPr>
        <p:spPr>
          <a:xfrm>
            <a:off x="8680535" y="1475286"/>
            <a:ext cx="896078" cy="2136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70" dirty="0">
                <a:latin typeface="Georgia"/>
                <a:cs typeface="Georgia"/>
              </a:rPr>
              <a:t>D</a:t>
            </a:r>
            <a:r>
              <a:rPr sz="1200" spc="-5" dirty="0">
                <a:latin typeface="Georgia"/>
                <a:cs typeface="Georgia"/>
              </a:rPr>
              <a:t>é</a:t>
            </a:r>
            <a:r>
              <a:rPr sz="1200" spc="-15" dirty="0">
                <a:latin typeface="Georgia"/>
                <a:cs typeface="Georgia"/>
              </a:rPr>
              <a:t>b</a:t>
            </a:r>
            <a:r>
              <a:rPr sz="1200" spc="-20" dirty="0">
                <a:latin typeface="Georgia"/>
                <a:cs typeface="Georgia"/>
              </a:rPr>
              <a:t>ut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168" name="object 50"/>
          <p:cNvSpPr/>
          <p:nvPr/>
        </p:nvSpPr>
        <p:spPr>
          <a:xfrm>
            <a:off x="8513385" y="1485686"/>
            <a:ext cx="136093" cy="4297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69" name="object 51"/>
          <p:cNvSpPr txBox="1"/>
          <p:nvPr/>
        </p:nvSpPr>
        <p:spPr>
          <a:xfrm>
            <a:off x="8053293" y="1928011"/>
            <a:ext cx="1187150" cy="577146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65125" marR="144780" indent="-213360">
              <a:lnSpc>
                <a:spcPct val="112900"/>
              </a:lnSpc>
              <a:spcBef>
                <a:spcPts val="475"/>
              </a:spcBef>
            </a:pPr>
            <a:r>
              <a:rPr lang="fr-FR" sz="1400" spc="-15" dirty="0" smtClean="0">
                <a:latin typeface="Georgia"/>
                <a:cs typeface="Georgia"/>
              </a:rPr>
              <a:t>NB - - </a:t>
            </a:r>
          </a:p>
          <a:p>
            <a:pPr marL="365125" marR="144780" indent="-213360">
              <a:lnSpc>
                <a:spcPct val="112900"/>
              </a:lnSpc>
              <a:spcBef>
                <a:spcPts val="475"/>
              </a:spcBef>
            </a:pPr>
            <a:endParaRPr sz="1200" dirty="0">
              <a:latin typeface="Georgia"/>
              <a:cs typeface="Georgia"/>
            </a:endParaRPr>
          </a:p>
        </p:txBody>
      </p:sp>
      <p:sp>
        <p:nvSpPr>
          <p:cNvPr id="171" name="object 53"/>
          <p:cNvSpPr txBox="1"/>
          <p:nvPr/>
        </p:nvSpPr>
        <p:spPr>
          <a:xfrm>
            <a:off x="7659413" y="5285296"/>
            <a:ext cx="2102775" cy="25968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7429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585"/>
              </a:spcBef>
            </a:pPr>
            <a:r>
              <a:rPr lang="fr-FR" sz="1200" spc="-20" dirty="0" smtClean="0">
                <a:latin typeface="Georgia"/>
                <a:cs typeface="Georgia"/>
              </a:rPr>
              <a:t>Remettre le FLAG à 0</a:t>
            </a:r>
            <a:endParaRPr sz="1200" dirty="0">
              <a:latin typeface="Georgia"/>
              <a:cs typeface="Georgia"/>
            </a:endParaRPr>
          </a:p>
        </p:txBody>
      </p:sp>
      <p:grpSp>
        <p:nvGrpSpPr>
          <p:cNvPr id="172" name="object 55"/>
          <p:cNvGrpSpPr/>
          <p:nvPr/>
        </p:nvGrpSpPr>
        <p:grpSpPr>
          <a:xfrm>
            <a:off x="8003392" y="2999682"/>
            <a:ext cx="1286951" cy="824061"/>
            <a:chOff x="3563620" y="6292214"/>
            <a:chExt cx="1170940" cy="594995"/>
          </a:xfrm>
        </p:grpSpPr>
        <p:sp>
          <p:nvSpPr>
            <p:cNvPr id="173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74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75" name="object 58"/>
          <p:cNvSpPr txBox="1"/>
          <p:nvPr/>
        </p:nvSpPr>
        <p:spPr>
          <a:xfrm>
            <a:off x="8356361" y="3306568"/>
            <a:ext cx="614581" cy="221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5080" indent="-78105">
              <a:lnSpc>
                <a:spcPct val="112900"/>
              </a:lnSpc>
              <a:spcBef>
                <a:spcPts val="100"/>
              </a:spcBef>
            </a:pPr>
            <a:r>
              <a:rPr lang="fr-FR" sz="1200" spc="-50" dirty="0" smtClean="0">
                <a:latin typeface="Georgia"/>
                <a:cs typeface="Georgia"/>
              </a:rPr>
              <a:t>NB == 0</a:t>
            </a:r>
            <a:endParaRPr lang="fr-FR" sz="1200" dirty="0">
              <a:latin typeface="Georgia"/>
              <a:cs typeface="Georgia"/>
            </a:endParaRPr>
          </a:p>
        </p:txBody>
      </p:sp>
      <p:sp>
        <p:nvSpPr>
          <p:cNvPr id="180" name="object 70"/>
          <p:cNvSpPr txBox="1"/>
          <p:nvPr/>
        </p:nvSpPr>
        <p:spPr>
          <a:xfrm>
            <a:off x="7763836" y="4318191"/>
            <a:ext cx="1913432" cy="691856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>
                <a:solidFill>
                  <a:srgbClr val="FF0000"/>
                </a:solidFill>
                <a:latin typeface="Georgia"/>
                <a:cs typeface="Georgia"/>
              </a:rPr>
              <a:t>Inverser l’état de la </a:t>
            </a:r>
            <a:r>
              <a:rPr lang="fr-FR" sz="1200" spc="-50" dirty="0" err="1" smtClean="0">
                <a:solidFill>
                  <a:srgbClr val="FF0000"/>
                </a:solidFill>
                <a:latin typeface="Georgia"/>
                <a:cs typeface="Georgia"/>
              </a:rPr>
              <a:t>led</a:t>
            </a:r>
            <a:endParaRPr lang="fr-FR" sz="1200" spc="-50" dirty="0" smtClean="0">
              <a:solidFill>
                <a:srgbClr val="FF0000"/>
              </a:solidFill>
              <a:latin typeface="Georgia"/>
              <a:cs typeface="Georgia"/>
            </a:endParaRP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solidFill>
                  <a:srgbClr val="FF0000"/>
                </a:solidFill>
                <a:latin typeface="Georgia"/>
                <a:cs typeface="Georgia"/>
              </a:rPr>
              <a:t>Initialiser NB</a:t>
            </a: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solidFill>
                  <a:srgbClr val="FF0000"/>
                </a:solidFill>
                <a:latin typeface="Georgia"/>
                <a:cs typeface="Georgia"/>
              </a:rPr>
              <a:t>Initialiser TMR0</a:t>
            </a:r>
            <a:endParaRPr lang="fr-FR" sz="1200" spc="-50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  <p:grpSp>
        <p:nvGrpSpPr>
          <p:cNvPr id="181" name="object 45"/>
          <p:cNvGrpSpPr/>
          <p:nvPr/>
        </p:nvGrpSpPr>
        <p:grpSpPr>
          <a:xfrm>
            <a:off x="10170448" y="4068392"/>
            <a:ext cx="444850" cy="166932"/>
            <a:chOff x="2605595" y="6921182"/>
            <a:chExt cx="1096645" cy="213995"/>
          </a:xfrm>
        </p:grpSpPr>
        <p:sp>
          <p:nvSpPr>
            <p:cNvPr id="182" name="object 46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Non</a:t>
              </a:r>
              <a:endParaRPr sz="1200" dirty="0"/>
            </a:p>
          </p:txBody>
        </p:sp>
        <p:sp>
          <p:nvSpPr>
            <p:cNvPr id="183" name="object 47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cxnSp>
        <p:nvCxnSpPr>
          <p:cNvPr id="196" name="Connecteur droit avec flèche 195"/>
          <p:cNvCxnSpPr/>
          <p:nvPr/>
        </p:nvCxnSpPr>
        <p:spPr>
          <a:xfrm>
            <a:off x="8641495" y="3821733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Connecteur droit avec flèche 241"/>
          <p:cNvCxnSpPr/>
          <p:nvPr/>
        </p:nvCxnSpPr>
        <p:spPr>
          <a:xfrm>
            <a:off x="8645978" y="2521857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Connecteur droit avec flèche 242"/>
          <p:cNvCxnSpPr>
            <a:stCxn id="180" idx="2"/>
          </p:cNvCxnSpPr>
          <p:nvPr/>
        </p:nvCxnSpPr>
        <p:spPr>
          <a:xfrm flipH="1">
            <a:off x="8680535" y="5010047"/>
            <a:ext cx="40017" cy="275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en angle 13"/>
          <p:cNvCxnSpPr>
            <a:endCxn id="171" idx="3"/>
          </p:cNvCxnSpPr>
          <p:nvPr/>
        </p:nvCxnSpPr>
        <p:spPr>
          <a:xfrm rot="16200000" flipH="1">
            <a:off x="8527962" y="4180912"/>
            <a:ext cx="1986139" cy="482313"/>
          </a:xfrm>
          <a:prstGeom prst="bentConnector4">
            <a:avLst>
              <a:gd name="adj1" fmla="val 692"/>
              <a:gd name="adj2" fmla="val 14739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4" name="object 64"/>
          <p:cNvGrpSpPr/>
          <p:nvPr/>
        </p:nvGrpSpPr>
        <p:grpSpPr>
          <a:xfrm>
            <a:off x="8606762" y="5576938"/>
            <a:ext cx="147546" cy="314498"/>
            <a:chOff x="2502852" y="8315325"/>
            <a:chExt cx="123825" cy="497522"/>
          </a:xfrm>
        </p:grpSpPr>
        <p:sp>
          <p:nvSpPr>
            <p:cNvPr id="245" name="object 67"/>
            <p:cNvSpPr/>
            <p:nvPr/>
          </p:nvSpPr>
          <p:spPr>
            <a:xfrm>
              <a:off x="2502852" y="8689022"/>
              <a:ext cx="123825" cy="12382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6" name="object 68"/>
            <p:cNvSpPr/>
            <p:nvPr/>
          </p:nvSpPr>
          <p:spPr>
            <a:xfrm>
              <a:off x="2539364" y="8315325"/>
              <a:ext cx="50800" cy="366395"/>
            </a:xfrm>
            <a:custGeom>
              <a:avLst/>
              <a:gdLst/>
              <a:ahLst/>
              <a:cxnLst/>
              <a:rect l="l" t="t" r="r" b="b"/>
              <a:pathLst>
                <a:path w="50800" h="366395">
                  <a:moveTo>
                    <a:pt x="19050" y="315594"/>
                  </a:moveTo>
                  <a:lnTo>
                    <a:pt x="0" y="315594"/>
                  </a:lnTo>
                  <a:lnTo>
                    <a:pt x="25400" y="366394"/>
                  </a:lnTo>
                  <a:lnTo>
                    <a:pt x="41275" y="334644"/>
                  </a:lnTo>
                  <a:lnTo>
                    <a:pt x="21843" y="334644"/>
                  </a:lnTo>
                  <a:lnTo>
                    <a:pt x="19050" y="331850"/>
                  </a:lnTo>
                  <a:lnTo>
                    <a:pt x="19050" y="315594"/>
                  </a:lnTo>
                  <a:close/>
                </a:path>
                <a:path w="50800" h="366395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331850"/>
                  </a:lnTo>
                  <a:lnTo>
                    <a:pt x="21843" y="334644"/>
                  </a:lnTo>
                  <a:lnTo>
                    <a:pt x="28956" y="334644"/>
                  </a:lnTo>
                  <a:lnTo>
                    <a:pt x="31750" y="3318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366395">
                  <a:moveTo>
                    <a:pt x="50800" y="315594"/>
                  </a:moveTo>
                  <a:lnTo>
                    <a:pt x="31750" y="315594"/>
                  </a:lnTo>
                  <a:lnTo>
                    <a:pt x="31750" y="331850"/>
                  </a:lnTo>
                  <a:lnTo>
                    <a:pt x="28956" y="334644"/>
                  </a:lnTo>
                  <a:lnTo>
                    <a:pt x="41275" y="334644"/>
                  </a:lnTo>
                  <a:lnTo>
                    <a:pt x="50800" y="3155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47" name="object 71"/>
          <p:cNvSpPr/>
          <p:nvPr/>
        </p:nvSpPr>
        <p:spPr>
          <a:xfrm>
            <a:off x="2474854" y="4323774"/>
            <a:ext cx="2041353" cy="370978"/>
          </a:xfrm>
          <a:custGeom>
            <a:avLst/>
            <a:gdLst/>
            <a:ahLst/>
            <a:cxnLst/>
            <a:rect l="l" t="t" r="r" b="b"/>
            <a:pathLst>
              <a:path w="1800225" h="360045">
                <a:moveTo>
                  <a:pt x="0" y="360045"/>
                </a:moveTo>
                <a:lnTo>
                  <a:pt x="1800225" y="360045"/>
                </a:lnTo>
                <a:lnTo>
                  <a:pt x="1800225" y="0"/>
                </a:lnTo>
                <a:lnTo>
                  <a:pt x="0" y="0"/>
                </a:lnTo>
                <a:lnTo>
                  <a:pt x="0" y="3600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5875">
            <a:solidFill>
              <a:srgbClr val="00B0F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8" name="object 72"/>
          <p:cNvSpPr txBox="1"/>
          <p:nvPr/>
        </p:nvSpPr>
        <p:spPr>
          <a:xfrm>
            <a:off x="2417559" y="4371652"/>
            <a:ext cx="1978840" cy="216726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Afficher  A</a:t>
            </a:r>
            <a:endParaRPr sz="1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46853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1981200" y="928671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fr-FR" sz="2200" b="1" dirty="0"/>
              <a:t>	</a:t>
            </a:r>
            <a:endParaRPr lang="fr-FR" b="1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068148" y="-205987"/>
            <a:ext cx="8229600" cy="1143000"/>
          </a:xfrm>
        </p:spPr>
        <p:txBody>
          <a:bodyPr/>
          <a:lstStyle/>
          <a:p>
            <a:r>
              <a:rPr lang="fr-FR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Configuration</a:t>
            </a:r>
            <a:r>
              <a:rPr lang="fr-FR" b="1" dirty="0"/>
              <a:t> </a:t>
            </a:r>
            <a:r>
              <a:rPr lang="fr-FR" sz="28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de l’interruption sur </a:t>
            </a:r>
            <a:r>
              <a:rPr lang="fr-FR" sz="2800" b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TIMER0</a:t>
            </a:r>
            <a:endParaRPr lang="fr-FR" sz="28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Connecteur droit 8"/>
          <p:cNvCxnSpPr/>
          <p:nvPr/>
        </p:nvCxnSpPr>
        <p:spPr>
          <a:xfrm flipV="1">
            <a:off x="1524000" y="758410"/>
            <a:ext cx="9144000" cy="27384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10337800" y="6473844"/>
            <a:ext cx="330200" cy="311150"/>
          </a:xfrm>
          <a:prstGeom prst="flowChartConnector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1" name="Espace réservé du contenu 1"/>
          <p:cNvSpPr txBox="1">
            <a:spLocks/>
          </p:cNvSpPr>
          <p:nvPr/>
        </p:nvSpPr>
        <p:spPr>
          <a:xfrm>
            <a:off x="1288623" y="758411"/>
            <a:ext cx="9237726" cy="5564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68275" algn="just">
              <a:lnSpc>
                <a:spcPct val="150000"/>
              </a:lnSpc>
              <a:buClr>
                <a:srgbClr val="FF0000"/>
              </a:buClr>
            </a:pPr>
            <a:r>
              <a:rPr lang="fr-FR" sz="1600" dirty="0">
                <a:latin typeface="Segoe UI" pitchFamily="34" charset="0"/>
                <a:ea typeface="Segoe UI" pitchFamily="34" charset="0"/>
                <a:cs typeface="Segoe UI" pitchFamily="34" charset="0"/>
              </a:rPr>
              <a:t>Le programmateur,  afin d’utiliser le mécanisme d’interruption dans son système, doit faire sa configuration, via les registres INTCON (Interruption Configuration) et OPTION_REG</a:t>
            </a:r>
            <a:endParaRPr lang="fr-FR" sz="1600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16" name="Tableau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128376"/>
              </p:ext>
            </p:extLst>
          </p:nvPr>
        </p:nvGraphicFramePr>
        <p:xfrm>
          <a:off x="1881158" y="2112421"/>
          <a:ext cx="7500984" cy="8229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376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91552">
                <a:tc>
                  <a:txBody>
                    <a:bodyPr/>
                    <a:lstStyle/>
                    <a:p>
                      <a:r>
                        <a:rPr lang="fr-FR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89"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GI</a:t>
                      </a:r>
                      <a:r>
                        <a:rPr lang="fr-FR" sz="2400" b="1" dirty="0">
                          <a:solidFill>
                            <a:srgbClr val="FF000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2400" b="1" dirty="0">
                        <a:solidFill>
                          <a:srgbClr val="FF000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 smtClean="0"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T0I</a:t>
                      </a:r>
                      <a:r>
                        <a:rPr lang="fr-FR" sz="2400" b="1" dirty="0" smtClean="0">
                          <a:solidFill>
                            <a:srgbClr val="FF000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E</a:t>
                      </a:r>
                      <a:endParaRPr lang="fr-FR" sz="24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INTE</a:t>
                      </a:r>
                      <a:endParaRPr lang="fr-FR" sz="2400" dirty="0">
                        <a:solidFill>
                          <a:schemeClr val="bg2">
                            <a:lumMod val="75000"/>
                          </a:schemeClr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RBIE</a:t>
                      </a:r>
                      <a:endParaRPr lang="fr-FR" sz="2400" dirty="0">
                        <a:solidFill>
                          <a:schemeClr val="bg2">
                            <a:lumMod val="75000"/>
                          </a:schemeClr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2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INTF</a:t>
                      </a:r>
                      <a:endParaRPr lang="fr-FR" sz="24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RBIF</a:t>
                      </a:r>
                      <a:endParaRPr lang="fr-FR" sz="24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881306" y="1628800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INTCON (Interruption Configuration)</a:t>
            </a:r>
            <a:r>
              <a:rPr lang="fr-FR" sz="1400" b="1" dirty="0">
                <a:solidFill>
                  <a:schemeClr val="accent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19946" y="2545679"/>
            <a:ext cx="2071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 : E</a:t>
            </a:r>
            <a:r>
              <a:rPr lang="fr-FR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nable</a:t>
            </a:r>
            <a:endParaRPr lang="fr-FR" dirty="0"/>
          </a:p>
        </p:txBody>
      </p:sp>
      <p:sp>
        <p:nvSpPr>
          <p:cNvPr id="22" name="Flèche vers le haut 21"/>
          <p:cNvSpPr/>
          <p:nvPr/>
        </p:nvSpPr>
        <p:spPr>
          <a:xfrm>
            <a:off x="2068149" y="2993544"/>
            <a:ext cx="45719" cy="225869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0390" y="3292100"/>
            <a:ext cx="497238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T0I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Enable</a:t>
            </a:r>
            <a:endParaRPr lang="fr-FR" b="1" dirty="0">
              <a:solidFill>
                <a:srgbClr val="FF0000"/>
              </a:solidFill>
            </a:endParaRPr>
          </a:p>
          <a:p>
            <a:r>
              <a:rPr lang="fr-FR" sz="1400" b="1" dirty="0"/>
              <a:t>0 : désactiver </a:t>
            </a:r>
            <a:r>
              <a:rPr lang="fr-FR" sz="1400" b="1" dirty="0" smtClean="0"/>
              <a:t>l’interruption du </a:t>
            </a:r>
            <a:r>
              <a:rPr lang="fr-FR" sz="1400" b="1" dirty="0" err="1" smtClean="0"/>
              <a:t>timer</a:t>
            </a:r>
            <a:endParaRPr lang="fr-FR" sz="1400" b="1" dirty="0"/>
          </a:p>
          <a:p>
            <a:r>
              <a:rPr lang="fr-FR" sz="1400" b="1" dirty="0"/>
              <a:t>1 : une interruption est déclenché à chaque </a:t>
            </a:r>
            <a:r>
              <a:rPr lang="fr-FR" sz="1400" b="1" dirty="0" smtClean="0">
                <a:solidFill>
                  <a:srgbClr val="FF0000"/>
                </a:solidFill>
              </a:rPr>
              <a:t>passage du </a:t>
            </a:r>
            <a:r>
              <a:rPr lang="fr-FR" sz="1400" b="1" dirty="0" err="1" smtClean="0">
                <a:solidFill>
                  <a:srgbClr val="FF0000"/>
                </a:solidFill>
              </a:rPr>
              <a:t>timer</a:t>
            </a:r>
            <a:r>
              <a:rPr lang="fr-FR" sz="1400" b="1" dirty="0" smtClean="0">
                <a:solidFill>
                  <a:srgbClr val="FF0000"/>
                </a:solidFill>
              </a:rPr>
              <a:t> à 0</a:t>
            </a:r>
            <a:endParaRPr lang="fr-FR" sz="1400" b="1" dirty="0"/>
          </a:p>
        </p:txBody>
      </p:sp>
      <p:sp>
        <p:nvSpPr>
          <p:cNvPr id="24" name="Flèche vers le haut 23"/>
          <p:cNvSpPr/>
          <p:nvPr/>
        </p:nvSpPr>
        <p:spPr>
          <a:xfrm>
            <a:off x="4248440" y="2967248"/>
            <a:ext cx="45719" cy="23254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243" y="3199796"/>
            <a:ext cx="235352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</a:t>
            </a:r>
            <a:r>
              <a:rPr lang="fr-FR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lobal </a:t>
            </a:r>
            <a:r>
              <a:rPr lang="fr-FR" b="1" dirty="0" err="1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fr-FR" b="1" dirty="0" err="1">
                <a:latin typeface="Segoe UI" pitchFamily="34" charset="0"/>
                <a:ea typeface="Segoe UI" pitchFamily="34" charset="0"/>
                <a:cs typeface="Segoe UI" pitchFamily="34" charset="0"/>
              </a:rPr>
              <a:t>nterrupt</a:t>
            </a:r>
            <a:endParaRPr lang="fr-FR" b="1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fr-FR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0 : désactiver les interruptions</a:t>
            </a:r>
          </a:p>
          <a:p>
            <a:r>
              <a:rPr lang="fr-FR" sz="1200" b="1" dirty="0">
                <a:latin typeface="Segoe UI" pitchFamily="34" charset="0"/>
                <a:ea typeface="Segoe UI" pitchFamily="34" charset="0"/>
                <a:cs typeface="Segoe UI" pitchFamily="34" charset="0"/>
              </a:rPr>
              <a:t>1 : utiliser les interruptions</a:t>
            </a:r>
          </a:p>
        </p:txBody>
      </p:sp>
      <p:graphicFrame>
        <p:nvGraphicFramePr>
          <p:cNvPr id="32" name="Tableau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24831"/>
              </p:ext>
            </p:extLst>
          </p:nvPr>
        </p:nvGraphicFramePr>
        <p:xfrm>
          <a:off x="1775520" y="4920733"/>
          <a:ext cx="7500984" cy="8229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8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904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50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1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91552">
                <a:tc>
                  <a:txBody>
                    <a:bodyPr/>
                    <a:lstStyle/>
                    <a:p>
                      <a:r>
                        <a:rPr lang="fr-FR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89">
                <a:tc>
                  <a:txBody>
                    <a:bodyPr/>
                    <a:lstStyle/>
                    <a:p>
                      <a:endParaRPr lang="fr-FR" sz="2400" b="1" dirty="0">
                        <a:solidFill>
                          <a:srgbClr val="FF000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INTEDG</a:t>
                      </a:r>
                      <a:endParaRPr lang="fr-FR" sz="18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T0CS</a:t>
                      </a:r>
                      <a:endParaRPr lang="fr-FR" sz="18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24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PSA</a:t>
                      </a:r>
                      <a:endParaRPr lang="fr-FR" sz="24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B05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PS2</a:t>
                      </a:r>
                      <a:endParaRPr lang="fr-FR" sz="2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B05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PS1</a:t>
                      </a:r>
                      <a:endParaRPr lang="fr-FR" sz="2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B05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PS0</a:t>
                      </a:r>
                      <a:endParaRPr lang="fr-FR" sz="2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775668" y="4437112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OPTION_REG</a:t>
            </a:r>
            <a:r>
              <a:rPr lang="fr-FR" sz="1400" b="1" dirty="0">
                <a:solidFill>
                  <a:schemeClr val="accent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068148" y="5933151"/>
            <a:ext cx="263328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Mode de fonctionnement</a:t>
            </a:r>
            <a:endParaRPr lang="fr-FR" b="1" dirty="0"/>
          </a:p>
          <a:p>
            <a:r>
              <a:rPr lang="fr-FR" sz="1400" b="1" dirty="0"/>
              <a:t>0 : </a:t>
            </a:r>
            <a:r>
              <a:rPr lang="fr-FR" sz="1400" b="1" dirty="0" smtClean="0"/>
              <a:t>mode </a:t>
            </a:r>
            <a:r>
              <a:rPr lang="fr-FR" sz="1400" b="1" dirty="0" err="1" smtClean="0"/>
              <a:t>timer</a:t>
            </a:r>
            <a:endParaRPr lang="fr-FR" sz="1400" b="1" dirty="0"/>
          </a:p>
          <a:p>
            <a:r>
              <a:rPr lang="fr-FR" sz="1400" b="1" dirty="0"/>
              <a:t>1 : </a:t>
            </a:r>
            <a:r>
              <a:rPr lang="fr-FR" sz="1400" b="1" dirty="0" smtClean="0"/>
              <a:t>mode compteur</a:t>
            </a:r>
            <a:endParaRPr lang="fr-FR" sz="1400" b="1" dirty="0"/>
          </a:p>
        </p:txBody>
      </p:sp>
      <p:sp>
        <p:nvSpPr>
          <p:cNvPr id="35" name="Flèche vers le haut 34"/>
          <p:cNvSpPr/>
          <p:nvPr/>
        </p:nvSpPr>
        <p:spPr>
          <a:xfrm>
            <a:off x="5907486" y="5815843"/>
            <a:ext cx="45719" cy="238421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B9880BC6-7B2E-4B33-8CC8-4A60D3470302}"/>
              </a:ext>
            </a:extLst>
          </p:cNvPr>
          <p:cNvSpPr txBox="1"/>
          <p:nvPr/>
        </p:nvSpPr>
        <p:spPr>
          <a:xfrm>
            <a:off x="4797015" y="6114307"/>
            <a:ext cx="336535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srgbClr val="00B050"/>
                </a:solidFill>
              </a:rPr>
              <a:t>0 </a:t>
            </a:r>
            <a:r>
              <a:rPr lang="fr-FR" sz="1400" b="1" dirty="0">
                <a:solidFill>
                  <a:srgbClr val="00B050"/>
                </a:solidFill>
              </a:rPr>
              <a:t>: associer </a:t>
            </a:r>
            <a:r>
              <a:rPr lang="fr-FR" sz="1400" b="1" dirty="0" err="1">
                <a:solidFill>
                  <a:srgbClr val="00B050"/>
                </a:solidFill>
              </a:rPr>
              <a:t>prédiviseur</a:t>
            </a:r>
            <a:r>
              <a:rPr lang="fr-FR" sz="1400" b="1" dirty="0">
                <a:solidFill>
                  <a:srgbClr val="00B050"/>
                </a:solidFill>
              </a:rPr>
              <a:t> au </a:t>
            </a:r>
            <a:r>
              <a:rPr lang="fr-FR" sz="1400" b="1" dirty="0" err="1" smtClean="0">
                <a:solidFill>
                  <a:srgbClr val="00B050"/>
                </a:solidFill>
              </a:rPr>
              <a:t>timer</a:t>
            </a:r>
            <a:endParaRPr lang="fr-FR" sz="1400" b="1" dirty="0">
              <a:solidFill>
                <a:srgbClr val="00B050"/>
              </a:solidFill>
            </a:endParaRPr>
          </a:p>
          <a:p>
            <a:r>
              <a:rPr lang="fr-FR" sz="1400" b="1" dirty="0" smtClean="0">
                <a:solidFill>
                  <a:schemeClr val="tx1"/>
                </a:solidFill>
              </a:rPr>
              <a:t>1 </a:t>
            </a:r>
            <a:r>
              <a:rPr lang="fr-FR" sz="1400" b="1" dirty="0">
                <a:solidFill>
                  <a:schemeClr val="tx1"/>
                </a:solidFill>
              </a:rPr>
              <a:t>: ne pas associer le </a:t>
            </a:r>
            <a:r>
              <a:rPr lang="fr-FR" sz="1400" b="1" dirty="0" err="1">
                <a:solidFill>
                  <a:schemeClr val="tx1"/>
                </a:solidFill>
              </a:rPr>
              <a:t>prédiviseur</a:t>
            </a:r>
            <a:r>
              <a:rPr lang="fr-FR" sz="1400" b="1" dirty="0">
                <a:solidFill>
                  <a:schemeClr val="tx1"/>
                </a:solidFill>
              </a:rPr>
              <a:t> au </a:t>
            </a:r>
            <a:r>
              <a:rPr lang="fr-FR" sz="1400" b="1" dirty="0" err="1" smtClean="0">
                <a:solidFill>
                  <a:schemeClr val="tx1"/>
                </a:solidFill>
              </a:rPr>
              <a:t>timer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="" xmlns:a16="http://schemas.microsoft.com/office/drawing/2014/main" id="{21F3541C-1542-4562-B94B-2A14991B4E7D}"/>
              </a:ext>
            </a:extLst>
          </p:cNvPr>
          <p:cNvSpPr txBox="1"/>
          <p:nvPr/>
        </p:nvSpPr>
        <p:spPr>
          <a:xfrm>
            <a:off x="8257947" y="5849411"/>
            <a:ext cx="1684762" cy="946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350" b="1" dirty="0">
                <a:solidFill>
                  <a:srgbClr val="00B050"/>
                </a:solidFill>
              </a:rPr>
              <a:t>Les bits de configuration de la valeur du </a:t>
            </a:r>
            <a:r>
              <a:rPr lang="fr-FR" sz="1500" b="1" dirty="0" err="1">
                <a:solidFill>
                  <a:srgbClr val="00B050"/>
                </a:solidFill>
              </a:rPr>
              <a:t>prédiviseur</a:t>
            </a:r>
            <a:r>
              <a:rPr lang="fr-FR" sz="1350" b="1" dirty="0">
                <a:solidFill>
                  <a:srgbClr val="00B050"/>
                </a:solidFill>
              </a:rPr>
              <a:t>: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="" xmlns:a16="http://schemas.microsoft.com/office/drawing/2014/main" id="{2EE220EC-6118-4AA9-B801-F26D7A91F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09" y="4621778"/>
            <a:ext cx="2324497" cy="21859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Flèche vers le haut 24"/>
          <p:cNvSpPr/>
          <p:nvPr/>
        </p:nvSpPr>
        <p:spPr>
          <a:xfrm>
            <a:off x="3907531" y="5799427"/>
            <a:ext cx="45719" cy="238421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0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0101" y="-129395"/>
            <a:ext cx="8229600" cy="1143000"/>
          </a:xfrm>
        </p:spPr>
        <p:txBody>
          <a:bodyPr>
            <a:normAutofit/>
          </a:bodyPr>
          <a:lstStyle/>
          <a:p>
            <a:r>
              <a:rPr lang="fr-CA" sz="2800" b="1" dirty="0" smtClean="0">
                <a:latin typeface="Segoe UI" pitchFamily="34" charset="0"/>
                <a:cs typeface="Segoe UI" pitchFamily="34" charset="0"/>
              </a:rPr>
              <a:t>Exemple de mesure de temps</a:t>
            </a:r>
            <a:endParaRPr lang="fr-FR" sz="2800" dirty="0"/>
          </a:p>
        </p:txBody>
      </p:sp>
      <p:grpSp>
        <p:nvGrpSpPr>
          <p:cNvPr id="9" name="Groupe 8"/>
          <p:cNvGrpSpPr/>
          <p:nvPr/>
        </p:nvGrpSpPr>
        <p:grpSpPr>
          <a:xfrm>
            <a:off x="1676989" y="1727050"/>
            <a:ext cx="3254895" cy="4488470"/>
            <a:chOff x="5311867" y="1021523"/>
            <a:chExt cx="3132825" cy="4333891"/>
          </a:xfrm>
        </p:grpSpPr>
        <p:sp>
          <p:nvSpPr>
            <p:cNvPr id="197" name="object 67"/>
            <p:cNvSpPr txBox="1"/>
            <p:nvPr/>
          </p:nvSpPr>
          <p:spPr>
            <a:xfrm>
              <a:off x="5683219" y="3311325"/>
              <a:ext cx="2736304" cy="493360"/>
            </a:xfrm>
            <a:prstGeom prst="rect">
              <a:avLst/>
            </a:prstGeom>
            <a:solidFill>
              <a:srgbClr val="F79546">
                <a:alpha val="69802"/>
              </a:srgbClr>
            </a:solidFill>
            <a:ln w="15875">
              <a:solidFill>
                <a:srgbClr val="E26C09"/>
              </a:solidFill>
            </a:ln>
          </p:spPr>
          <p:txBody>
            <a:bodyPr vert="horz" wrap="square" lIns="0" tIns="49530" rIns="0" bIns="0" rtlCol="0">
              <a:spAutoFit/>
            </a:bodyPr>
            <a:lstStyle/>
            <a:p>
              <a:pPr marL="584200">
                <a:spcBef>
                  <a:spcPts val="390"/>
                </a:spcBef>
              </a:pPr>
              <a:r>
                <a:rPr lang="fr-FR" sz="1200" b="1" spc="-50" dirty="0">
                  <a:latin typeface="Georgia"/>
                  <a:cs typeface="Georgia"/>
                </a:rPr>
                <a:t>         </a:t>
              </a:r>
              <a:r>
                <a:rPr sz="1100" b="1" spc="-50" dirty="0">
                  <a:latin typeface="Georgia"/>
                  <a:cs typeface="Georgia"/>
                </a:rPr>
                <a:t>INITIALISATION</a:t>
              </a:r>
              <a:endParaRPr sz="1100" b="1" dirty="0">
                <a:latin typeface="Georgia"/>
                <a:cs typeface="Georgia"/>
              </a:endParaRPr>
            </a:p>
            <a:p>
              <a:pPr marL="99060" algn="ctr">
                <a:spcBef>
                  <a:spcPts val="100"/>
                </a:spcBef>
              </a:pPr>
              <a:r>
                <a:rPr lang="fr-FR" sz="1100" spc="-15" dirty="0">
                  <a:latin typeface="Georgia"/>
                  <a:cs typeface="Georgia"/>
                </a:rPr>
                <a:t>Afficheur </a:t>
              </a:r>
              <a:r>
                <a:rPr lang="fr-FR" sz="1100" spc="-15" dirty="0" smtClean="0">
                  <a:latin typeface="Georgia"/>
                  <a:cs typeface="Georgia"/>
                </a:rPr>
                <a:t>éteint, </a:t>
              </a:r>
              <a:r>
                <a:rPr lang="fr-FR" sz="1100" spc="-15" dirty="0" err="1" smtClean="0">
                  <a:latin typeface="Georgia"/>
                  <a:cs typeface="Georgia"/>
                </a:rPr>
                <a:t>led</a:t>
              </a:r>
              <a:r>
                <a:rPr lang="fr-FR" sz="1100" spc="-15" dirty="0" smtClean="0">
                  <a:latin typeface="Georgia"/>
                  <a:cs typeface="Georgia"/>
                </a:rPr>
                <a:t> éteinte</a:t>
              </a:r>
              <a:endParaRPr sz="1100" dirty="0">
                <a:latin typeface="Georgia"/>
                <a:cs typeface="Georgia"/>
              </a:endParaRPr>
            </a:p>
          </p:txBody>
        </p:sp>
        <p:sp>
          <p:nvSpPr>
            <p:cNvPr id="201" name="object 73"/>
            <p:cNvSpPr/>
            <p:nvPr/>
          </p:nvSpPr>
          <p:spPr>
            <a:xfrm>
              <a:off x="6980874" y="4906497"/>
              <a:ext cx="90772" cy="4489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2" name="object 75"/>
            <p:cNvGrpSpPr/>
            <p:nvPr/>
          </p:nvGrpSpPr>
          <p:grpSpPr>
            <a:xfrm>
              <a:off x="5311867" y="3835931"/>
              <a:ext cx="1732176" cy="1157327"/>
              <a:chOff x="869382" y="3858084"/>
              <a:chExt cx="2183774" cy="826906"/>
            </a:xfrm>
          </p:grpSpPr>
          <p:sp>
            <p:nvSpPr>
              <p:cNvPr id="203" name="object 76"/>
              <p:cNvSpPr/>
              <p:nvPr/>
            </p:nvSpPr>
            <p:spPr>
              <a:xfrm>
                <a:off x="3007438" y="3858084"/>
                <a:ext cx="45718" cy="468664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86054">
                    <a:moveTo>
                      <a:pt x="19050" y="135254"/>
                    </a:moveTo>
                    <a:lnTo>
                      <a:pt x="0" y="135254"/>
                    </a:lnTo>
                    <a:lnTo>
                      <a:pt x="25400" y="186054"/>
                    </a:lnTo>
                    <a:lnTo>
                      <a:pt x="41275" y="154304"/>
                    </a:lnTo>
                    <a:lnTo>
                      <a:pt x="21843" y="154304"/>
                    </a:lnTo>
                    <a:lnTo>
                      <a:pt x="19050" y="151510"/>
                    </a:lnTo>
                    <a:lnTo>
                      <a:pt x="19050" y="135254"/>
                    </a:lnTo>
                    <a:close/>
                  </a:path>
                  <a:path w="50800" h="186054">
                    <a:moveTo>
                      <a:pt x="28956" y="0"/>
                    </a:moveTo>
                    <a:lnTo>
                      <a:pt x="21843" y="0"/>
                    </a:lnTo>
                    <a:lnTo>
                      <a:pt x="19050" y="2794"/>
                    </a:lnTo>
                    <a:lnTo>
                      <a:pt x="19050" y="151510"/>
                    </a:lnTo>
                    <a:lnTo>
                      <a:pt x="21843" y="154304"/>
                    </a:lnTo>
                    <a:lnTo>
                      <a:pt x="28956" y="154304"/>
                    </a:lnTo>
                    <a:lnTo>
                      <a:pt x="31750" y="151510"/>
                    </a:lnTo>
                    <a:lnTo>
                      <a:pt x="31750" y="2794"/>
                    </a:lnTo>
                    <a:lnTo>
                      <a:pt x="28956" y="0"/>
                    </a:lnTo>
                    <a:close/>
                  </a:path>
                  <a:path w="50800" h="186054">
                    <a:moveTo>
                      <a:pt x="50800" y="135254"/>
                    </a:moveTo>
                    <a:lnTo>
                      <a:pt x="31750" y="135254"/>
                    </a:lnTo>
                    <a:lnTo>
                      <a:pt x="31750" y="151510"/>
                    </a:lnTo>
                    <a:lnTo>
                      <a:pt x="28956" y="154304"/>
                    </a:lnTo>
                    <a:lnTo>
                      <a:pt x="41275" y="154304"/>
                    </a:lnTo>
                    <a:lnTo>
                      <a:pt x="50800" y="135254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77"/>
              <p:cNvSpPr/>
              <p:nvPr/>
            </p:nvSpPr>
            <p:spPr>
              <a:xfrm>
                <a:off x="869382" y="3975167"/>
                <a:ext cx="2160915" cy="709823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589914">
                    <a:moveTo>
                      <a:pt x="948055" y="19050"/>
                    </a:moveTo>
                    <a:lnTo>
                      <a:pt x="2793" y="19050"/>
                    </a:lnTo>
                    <a:lnTo>
                      <a:pt x="0" y="21844"/>
                    </a:lnTo>
                    <a:lnTo>
                      <a:pt x="0" y="587121"/>
                    </a:lnTo>
                    <a:lnTo>
                      <a:pt x="2793" y="589915"/>
                    </a:lnTo>
                    <a:lnTo>
                      <a:pt x="1013206" y="589915"/>
                    </a:lnTo>
                    <a:lnTo>
                      <a:pt x="1016000" y="587121"/>
                    </a:lnTo>
                    <a:lnTo>
                      <a:pt x="1016000" y="583565"/>
                    </a:lnTo>
                    <a:lnTo>
                      <a:pt x="12700" y="583565"/>
                    </a:lnTo>
                    <a:lnTo>
                      <a:pt x="6350" y="577215"/>
                    </a:lnTo>
                    <a:lnTo>
                      <a:pt x="12700" y="577215"/>
                    </a:lnTo>
                    <a:lnTo>
                      <a:pt x="12700" y="31750"/>
                    </a:lnTo>
                    <a:lnTo>
                      <a:pt x="6350" y="31750"/>
                    </a:lnTo>
                    <a:lnTo>
                      <a:pt x="12700" y="25400"/>
                    </a:lnTo>
                    <a:lnTo>
                      <a:pt x="948055" y="25400"/>
                    </a:lnTo>
                    <a:lnTo>
                      <a:pt x="948055" y="19050"/>
                    </a:lnTo>
                    <a:close/>
                  </a:path>
                  <a:path w="1016000" h="589914">
                    <a:moveTo>
                      <a:pt x="12700" y="577215"/>
                    </a:moveTo>
                    <a:lnTo>
                      <a:pt x="6350" y="577215"/>
                    </a:lnTo>
                    <a:lnTo>
                      <a:pt x="12700" y="583565"/>
                    </a:lnTo>
                    <a:lnTo>
                      <a:pt x="12700" y="577215"/>
                    </a:lnTo>
                    <a:close/>
                  </a:path>
                  <a:path w="1016000" h="589914">
                    <a:moveTo>
                      <a:pt x="1013206" y="577215"/>
                    </a:moveTo>
                    <a:lnTo>
                      <a:pt x="12700" y="577215"/>
                    </a:lnTo>
                    <a:lnTo>
                      <a:pt x="12700" y="583565"/>
                    </a:lnTo>
                    <a:lnTo>
                      <a:pt x="1016000" y="583565"/>
                    </a:lnTo>
                    <a:lnTo>
                      <a:pt x="1016000" y="580008"/>
                    </a:lnTo>
                    <a:lnTo>
                      <a:pt x="1013206" y="577215"/>
                    </a:lnTo>
                    <a:close/>
                  </a:path>
                  <a:path w="1016000" h="589914">
                    <a:moveTo>
                      <a:pt x="948055" y="0"/>
                    </a:moveTo>
                    <a:lnTo>
                      <a:pt x="948055" y="50800"/>
                    </a:lnTo>
                    <a:lnTo>
                      <a:pt x="986155" y="31750"/>
                    </a:lnTo>
                    <a:lnTo>
                      <a:pt x="964311" y="31750"/>
                    </a:lnTo>
                    <a:lnTo>
                      <a:pt x="967105" y="28955"/>
                    </a:lnTo>
                    <a:lnTo>
                      <a:pt x="967105" y="21844"/>
                    </a:lnTo>
                    <a:lnTo>
                      <a:pt x="964311" y="19050"/>
                    </a:lnTo>
                    <a:lnTo>
                      <a:pt x="986155" y="19050"/>
                    </a:lnTo>
                    <a:lnTo>
                      <a:pt x="948055" y="0"/>
                    </a:lnTo>
                    <a:close/>
                  </a:path>
                  <a:path w="1016000" h="589914">
                    <a:moveTo>
                      <a:pt x="12700" y="25400"/>
                    </a:moveTo>
                    <a:lnTo>
                      <a:pt x="6350" y="31750"/>
                    </a:lnTo>
                    <a:lnTo>
                      <a:pt x="12700" y="31750"/>
                    </a:lnTo>
                    <a:lnTo>
                      <a:pt x="12700" y="25400"/>
                    </a:lnTo>
                    <a:close/>
                  </a:path>
                  <a:path w="1016000" h="589914">
                    <a:moveTo>
                      <a:pt x="948055" y="25400"/>
                    </a:moveTo>
                    <a:lnTo>
                      <a:pt x="12700" y="25400"/>
                    </a:lnTo>
                    <a:lnTo>
                      <a:pt x="12700" y="31750"/>
                    </a:lnTo>
                    <a:lnTo>
                      <a:pt x="948055" y="31750"/>
                    </a:lnTo>
                    <a:lnTo>
                      <a:pt x="948055" y="25400"/>
                    </a:lnTo>
                    <a:close/>
                  </a:path>
                  <a:path w="1016000" h="589914">
                    <a:moveTo>
                      <a:pt x="986155" y="19050"/>
                    </a:moveTo>
                    <a:lnTo>
                      <a:pt x="964311" y="19050"/>
                    </a:lnTo>
                    <a:lnTo>
                      <a:pt x="967105" y="21844"/>
                    </a:lnTo>
                    <a:lnTo>
                      <a:pt x="967105" y="28955"/>
                    </a:lnTo>
                    <a:lnTo>
                      <a:pt x="964311" y="31750"/>
                    </a:lnTo>
                    <a:lnTo>
                      <a:pt x="986155" y="31750"/>
                    </a:lnTo>
                    <a:lnTo>
                      <a:pt x="998855" y="25400"/>
                    </a:lnTo>
                    <a:lnTo>
                      <a:pt x="986155" y="19050"/>
                    </a:ln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5" name="object 80"/>
            <p:cNvSpPr txBox="1"/>
            <p:nvPr/>
          </p:nvSpPr>
          <p:spPr>
            <a:xfrm>
              <a:off x="7167311" y="1021523"/>
              <a:ext cx="555547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200" spc="-70" dirty="0">
                  <a:latin typeface="Georgia"/>
                  <a:cs typeface="Georgia"/>
                </a:rPr>
                <a:t>D</a:t>
              </a:r>
              <a:r>
                <a:rPr sz="1200" spc="-5" dirty="0">
                  <a:latin typeface="Georgia"/>
                  <a:cs typeface="Georgia"/>
                </a:rPr>
                <a:t>é</a:t>
              </a:r>
              <a:r>
                <a:rPr sz="1200" spc="-15" dirty="0">
                  <a:latin typeface="Georgia"/>
                  <a:cs typeface="Georgia"/>
                </a:rPr>
                <a:t>b</a:t>
              </a:r>
              <a:r>
                <a:rPr sz="1200" spc="-20" dirty="0">
                  <a:latin typeface="Georgia"/>
                  <a:cs typeface="Georgia"/>
                </a:rPr>
                <a:t>ut</a:t>
              </a:r>
              <a:endParaRPr sz="1200" dirty="0">
                <a:latin typeface="Georgia"/>
                <a:cs typeface="Georgia"/>
              </a:endParaRPr>
            </a:p>
          </p:txBody>
        </p:sp>
        <p:sp>
          <p:nvSpPr>
            <p:cNvPr id="206" name="object 81"/>
            <p:cNvSpPr/>
            <p:nvPr/>
          </p:nvSpPr>
          <p:spPr>
            <a:xfrm>
              <a:off x="6972650" y="1126161"/>
              <a:ext cx="127549" cy="415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82"/>
            <p:cNvSpPr txBox="1"/>
            <p:nvPr/>
          </p:nvSpPr>
          <p:spPr>
            <a:xfrm>
              <a:off x="5708388" y="1552935"/>
              <a:ext cx="2736304" cy="1643018"/>
            </a:xfrm>
            <a:prstGeom prst="rect">
              <a:avLst/>
            </a:prstGeom>
            <a:solidFill>
              <a:srgbClr val="FFC000">
                <a:alpha val="59999"/>
              </a:srgbClr>
            </a:solidFill>
            <a:ln w="15875">
              <a:solidFill>
                <a:srgbClr val="FFC000"/>
              </a:solidFill>
            </a:ln>
          </p:spPr>
          <p:txBody>
            <a:bodyPr vert="horz" wrap="square" lIns="0" tIns="48260" rIns="0" bIns="0" rtlCol="0">
              <a:spAutoFit/>
            </a:bodyPr>
            <a:lstStyle/>
            <a:p>
              <a:pPr marL="538480">
                <a:spcBef>
                  <a:spcPts val="380"/>
                </a:spcBef>
              </a:pPr>
              <a:r>
                <a:rPr lang="fr-FR" sz="1200" spc="-60" dirty="0">
                  <a:latin typeface="Georgia"/>
                  <a:cs typeface="Georgia"/>
                </a:rPr>
                <a:t>    </a:t>
              </a:r>
              <a:r>
                <a:rPr sz="1100" b="1" spc="-60" dirty="0">
                  <a:latin typeface="Georgia"/>
                  <a:cs typeface="Georgia"/>
                </a:rPr>
                <a:t>CONFIGURARTION</a:t>
              </a:r>
            </a:p>
            <a:p>
              <a:pPr marL="99060" marR="102870" algn="ctr">
                <a:lnSpc>
                  <a:spcPct val="112799"/>
                </a:lnSpc>
                <a:spcBef>
                  <a:spcPts val="20"/>
                </a:spcBef>
              </a:pPr>
              <a:r>
                <a:rPr lang="fr-FR" sz="1100" spc="-15" dirty="0" err="1" smtClean="0">
                  <a:latin typeface="Georgia"/>
                  <a:cs typeface="Georgia"/>
                </a:rPr>
                <a:t>Afficheur,led</a:t>
              </a:r>
              <a:r>
                <a:rPr lang="fr-FR" sz="1100" spc="-15" dirty="0" smtClean="0">
                  <a:latin typeface="Georgia"/>
                  <a:cs typeface="Georgia"/>
                </a:rPr>
                <a:t>: sortie</a:t>
              </a:r>
              <a:endParaRPr lang="fr-FR" sz="1100" spc="-15" dirty="0">
                <a:latin typeface="Georgia"/>
                <a:cs typeface="Georgia"/>
              </a:endParaRP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>
                  <a:solidFill>
                    <a:srgbClr val="FF0000"/>
                  </a:solidFill>
                  <a:latin typeface="Georgia"/>
                  <a:cs typeface="Georgia"/>
                </a:rPr>
                <a:t>INTCON.GIE = </a:t>
              </a:r>
              <a:r>
                <a:rPr lang="fr-FR" sz="1100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1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INTCON.T0IE=1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dirty="0" smtClean="0">
                  <a:solidFill>
                    <a:srgbClr val="FF0000"/>
                  </a:solidFill>
                  <a:latin typeface="Georgia"/>
                  <a:cs typeface="Georgia"/>
                </a:rPr>
                <a:t>TMR0=0; 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OPTION_REG = 0b00</a:t>
              </a:r>
              <a:r>
                <a:rPr lang="fr-FR" sz="1100" u="sng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0</a:t>
              </a:r>
              <a:r>
                <a:rPr lang="fr-FR" sz="1100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0</a:t>
              </a:r>
              <a:r>
                <a:rPr lang="fr-FR" sz="1100" u="sng" spc="-15" dirty="0" smtClean="0">
                  <a:solidFill>
                    <a:srgbClr val="FF0000"/>
                  </a:solidFill>
                  <a:latin typeface="Georgia"/>
                  <a:cs typeface="Georgia"/>
                </a:rPr>
                <a:t>0</a:t>
              </a:r>
              <a:r>
                <a:rPr lang="fr-FR" sz="1100" spc="-15" dirty="0" smtClean="0">
                  <a:solidFill>
                    <a:srgbClr val="00B050"/>
                  </a:solidFill>
                  <a:latin typeface="Georgia"/>
                  <a:cs typeface="Georgia"/>
                </a:rPr>
                <a:t>111</a:t>
              </a:r>
            </a:p>
            <a:p>
              <a:pPr marL="365125" marR="144780" indent="-213360">
                <a:lnSpc>
                  <a:spcPct val="112900"/>
                </a:lnSpc>
                <a:spcBef>
                  <a:spcPts val="475"/>
                </a:spcBef>
              </a:pPr>
              <a:r>
                <a:rPr lang="fr-FR" sz="1100" dirty="0" smtClean="0">
                  <a:solidFill>
                    <a:srgbClr val="FF0000"/>
                  </a:solidFill>
                  <a:latin typeface="Georgia"/>
                  <a:cs typeface="Georgia"/>
                </a:rPr>
                <a:t>NB = 15</a:t>
              </a:r>
              <a:endParaRPr lang="fr-FR" sz="1100" dirty="0">
                <a:solidFill>
                  <a:srgbClr val="FF0000"/>
                </a:solidFill>
                <a:latin typeface="Georgia"/>
                <a:cs typeface="Georgia"/>
              </a:endParaRPr>
            </a:p>
          </p:txBody>
        </p:sp>
        <p:sp>
          <p:nvSpPr>
            <p:cNvPr id="208" name="object 83"/>
            <p:cNvSpPr/>
            <p:nvPr/>
          </p:nvSpPr>
          <p:spPr>
            <a:xfrm>
              <a:off x="7040258" y="3139941"/>
              <a:ext cx="44004" cy="212650"/>
            </a:xfrm>
            <a:custGeom>
              <a:avLst/>
              <a:gdLst/>
              <a:ahLst/>
              <a:cxnLst/>
              <a:rect l="l" t="t" r="r" b="b"/>
              <a:pathLst>
                <a:path w="50800" h="150494">
                  <a:moveTo>
                    <a:pt x="19050" y="99694"/>
                  </a:moveTo>
                  <a:lnTo>
                    <a:pt x="0" y="99694"/>
                  </a:lnTo>
                  <a:lnTo>
                    <a:pt x="25400" y="150494"/>
                  </a:lnTo>
                  <a:lnTo>
                    <a:pt x="41275" y="118744"/>
                  </a:lnTo>
                  <a:lnTo>
                    <a:pt x="21843" y="118744"/>
                  </a:lnTo>
                  <a:lnTo>
                    <a:pt x="19050" y="115950"/>
                  </a:lnTo>
                  <a:lnTo>
                    <a:pt x="19050" y="99694"/>
                  </a:lnTo>
                  <a:close/>
                </a:path>
                <a:path w="50800" h="150494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115950"/>
                  </a:lnTo>
                  <a:lnTo>
                    <a:pt x="21843" y="118744"/>
                  </a:lnTo>
                  <a:lnTo>
                    <a:pt x="28956" y="118744"/>
                  </a:lnTo>
                  <a:lnTo>
                    <a:pt x="31750" y="1159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150494">
                  <a:moveTo>
                    <a:pt x="50800" y="99694"/>
                  </a:moveTo>
                  <a:lnTo>
                    <a:pt x="31750" y="99694"/>
                  </a:lnTo>
                  <a:lnTo>
                    <a:pt x="31750" y="115950"/>
                  </a:lnTo>
                  <a:lnTo>
                    <a:pt x="28956" y="118744"/>
                  </a:lnTo>
                  <a:lnTo>
                    <a:pt x="41275" y="118744"/>
                  </a:lnTo>
                  <a:lnTo>
                    <a:pt x="50800" y="996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ZoneTexte 132"/>
          <p:cNvSpPr txBox="1"/>
          <p:nvPr/>
        </p:nvSpPr>
        <p:spPr>
          <a:xfrm>
            <a:off x="7195938" y="1780272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Fonction Interruption </a:t>
            </a:r>
            <a:r>
              <a:rPr lang="fr-FR" b="1" dirty="0" err="1" smtClean="0">
                <a:solidFill>
                  <a:srgbClr val="FF0000"/>
                </a:solidFill>
              </a:rPr>
              <a:t>interrupt</a:t>
            </a:r>
            <a:r>
              <a:rPr lang="fr-FR" b="1" dirty="0" smtClean="0">
                <a:solidFill>
                  <a:srgbClr val="FF0000"/>
                </a:solidFill>
              </a:rPr>
              <a:t>()</a:t>
            </a:r>
            <a:endParaRPr lang="fr-FR" b="1" dirty="0">
              <a:solidFill>
                <a:srgbClr val="FF0000"/>
              </a:solidFill>
            </a:endParaRPr>
          </a:p>
        </p:txBody>
      </p:sp>
      <p:grpSp>
        <p:nvGrpSpPr>
          <p:cNvPr id="134" name="object 45"/>
          <p:cNvGrpSpPr/>
          <p:nvPr/>
        </p:nvGrpSpPr>
        <p:grpSpPr>
          <a:xfrm>
            <a:off x="8739988" y="4880864"/>
            <a:ext cx="436904" cy="250976"/>
            <a:chOff x="2605595" y="6921182"/>
            <a:chExt cx="1096645" cy="213995"/>
          </a:xfrm>
        </p:grpSpPr>
        <p:sp>
          <p:nvSpPr>
            <p:cNvPr id="135" name="object 46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oui</a:t>
              </a:r>
              <a:endParaRPr sz="1200" dirty="0"/>
            </a:p>
          </p:txBody>
        </p:sp>
        <p:sp>
          <p:nvSpPr>
            <p:cNvPr id="136" name="object 47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37" name="object 49"/>
          <p:cNvSpPr txBox="1"/>
          <p:nvPr/>
        </p:nvSpPr>
        <p:spPr>
          <a:xfrm>
            <a:off x="8680535" y="2445959"/>
            <a:ext cx="896078" cy="2136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70" dirty="0">
                <a:latin typeface="Georgia"/>
                <a:cs typeface="Georgia"/>
              </a:rPr>
              <a:t>D</a:t>
            </a:r>
            <a:r>
              <a:rPr sz="1200" spc="-5" dirty="0">
                <a:latin typeface="Georgia"/>
                <a:cs typeface="Georgia"/>
              </a:rPr>
              <a:t>é</a:t>
            </a:r>
            <a:r>
              <a:rPr sz="1200" spc="-15" dirty="0">
                <a:latin typeface="Georgia"/>
                <a:cs typeface="Georgia"/>
              </a:rPr>
              <a:t>b</a:t>
            </a:r>
            <a:r>
              <a:rPr sz="1200" spc="-20" dirty="0">
                <a:latin typeface="Georgia"/>
                <a:cs typeface="Georgia"/>
              </a:rPr>
              <a:t>ut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168" name="object 50"/>
          <p:cNvSpPr/>
          <p:nvPr/>
        </p:nvSpPr>
        <p:spPr>
          <a:xfrm>
            <a:off x="8513385" y="2456359"/>
            <a:ext cx="136093" cy="4297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69" name="object 51"/>
          <p:cNvSpPr txBox="1"/>
          <p:nvPr/>
        </p:nvSpPr>
        <p:spPr>
          <a:xfrm>
            <a:off x="8053293" y="2898684"/>
            <a:ext cx="1187150" cy="577146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65125" marR="144780" indent="-213360">
              <a:lnSpc>
                <a:spcPct val="112900"/>
              </a:lnSpc>
              <a:spcBef>
                <a:spcPts val="475"/>
              </a:spcBef>
            </a:pPr>
            <a:r>
              <a:rPr lang="fr-FR" sz="1400" spc="-15" dirty="0" smtClean="0">
                <a:latin typeface="Georgia"/>
                <a:cs typeface="Georgia"/>
              </a:rPr>
              <a:t>NB - - </a:t>
            </a:r>
          </a:p>
          <a:p>
            <a:pPr marL="365125" marR="144780" indent="-213360">
              <a:lnSpc>
                <a:spcPct val="112900"/>
              </a:lnSpc>
              <a:spcBef>
                <a:spcPts val="475"/>
              </a:spcBef>
            </a:pPr>
            <a:endParaRPr sz="1200" dirty="0">
              <a:latin typeface="Georgia"/>
              <a:cs typeface="Georgia"/>
            </a:endParaRPr>
          </a:p>
        </p:txBody>
      </p:sp>
      <p:sp>
        <p:nvSpPr>
          <p:cNvPr id="171" name="object 53"/>
          <p:cNvSpPr txBox="1"/>
          <p:nvPr/>
        </p:nvSpPr>
        <p:spPr>
          <a:xfrm>
            <a:off x="7763836" y="6125712"/>
            <a:ext cx="2102775" cy="26718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74295" rIns="0" bIns="0" rtlCol="0">
            <a:spAutoFit/>
          </a:bodyPr>
          <a:lstStyle/>
          <a:p>
            <a:pPr marL="365125" marR="144780" indent="-213360">
              <a:lnSpc>
                <a:spcPct val="112900"/>
              </a:lnSpc>
              <a:spcBef>
                <a:spcPts val="475"/>
              </a:spcBef>
            </a:pPr>
            <a:r>
              <a:rPr lang="fr-FR" sz="1200" spc="-15" dirty="0" smtClean="0">
                <a:latin typeface="Georgia"/>
                <a:cs typeface="Georgia"/>
              </a:rPr>
              <a:t>INTCON.T0I</a:t>
            </a:r>
            <a:r>
              <a:rPr lang="fr-FR" sz="1200" spc="-15" dirty="0" smtClean="0">
                <a:solidFill>
                  <a:srgbClr val="FF0000"/>
                </a:solidFill>
                <a:latin typeface="Georgia"/>
                <a:cs typeface="Georgia"/>
              </a:rPr>
              <a:t>F</a:t>
            </a:r>
            <a:r>
              <a:rPr lang="fr-FR" sz="1200" spc="-15" dirty="0" smtClean="0">
                <a:latin typeface="Georgia"/>
                <a:cs typeface="Georgia"/>
              </a:rPr>
              <a:t> </a:t>
            </a:r>
            <a:r>
              <a:rPr lang="fr-FR" sz="1200" spc="-15" dirty="0">
                <a:latin typeface="Georgia"/>
                <a:cs typeface="Georgia"/>
              </a:rPr>
              <a:t>= </a:t>
            </a:r>
            <a:r>
              <a:rPr lang="fr-FR" sz="1200" spc="-15" dirty="0" smtClean="0">
                <a:latin typeface="Georgia"/>
                <a:cs typeface="Georgia"/>
              </a:rPr>
              <a:t>0</a:t>
            </a:r>
            <a:endParaRPr sz="1200" dirty="0">
              <a:latin typeface="Georgia"/>
              <a:cs typeface="Georgia"/>
            </a:endParaRPr>
          </a:p>
        </p:txBody>
      </p:sp>
      <p:grpSp>
        <p:nvGrpSpPr>
          <p:cNvPr id="172" name="object 55"/>
          <p:cNvGrpSpPr/>
          <p:nvPr/>
        </p:nvGrpSpPr>
        <p:grpSpPr>
          <a:xfrm>
            <a:off x="8003392" y="3970355"/>
            <a:ext cx="1286951" cy="824061"/>
            <a:chOff x="3563620" y="6292214"/>
            <a:chExt cx="1170940" cy="594995"/>
          </a:xfrm>
        </p:grpSpPr>
        <p:sp>
          <p:nvSpPr>
            <p:cNvPr id="173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74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75" name="object 58"/>
          <p:cNvSpPr txBox="1"/>
          <p:nvPr/>
        </p:nvSpPr>
        <p:spPr>
          <a:xfrm>
            <a:off x="8356361" y="4277241"/>
            <a:ext cx="614581" cy="221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5080" indent="-78105">
              <a:lnSpc>
                <a:spcPct val="112900"/>
              </a:lnSpc>
              <a:spcBef>
                <a:spcPts val="100"/>
              </a:spcBef>
            </a:pPr>
            <a:r>
              <a:rPr lang="fr-FR" sz="1200" spc="-50" dirty="0" smtClean="0">
                <a:latin typeface="Georgia"/>
                <a:cs typeface="Georgia"/>
              </a:rPr>
              <a:t>NB == 0</a:t>
            </a:r>
            <a:endParaRPr lang="fr-FR" sz="1200" dirty="0">
              <a:latin typeface="Georgia"/>
              <a:cs typeface="Georgia"/>
            </a:endParaRPr>
          </a:p>
        </p:txBody>
      </p:sp>
      <p:sp>
        <p:nvSpPr>
          <p:cNvPr id="180" name="object 70"/>
          <p:cNvSpPr txBox="1"/>
          <p:nvPr/>
        </p:nvSpPr>
        <p:spPr>
          <a:xfrm>
            <a:off x="7763836" y="5288864"/>
            <a:ext cx="1913432" cy="691856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>
                <a:solidFill>
                  <a:srgbClr val="FF0000"/>
                </a:solidFill>
                <a:latin typeface="Georgia"/>
                <a:cs typeface="Georgia"/>
              </a:rPr>
              <a:t>Inverser l’état de la </a:t>
            </a:r>
            <a:r>
              <a:rPr lang="fr-FR" sz="1200" spc="-50" dirty="0" err="1" smtClean="0">
                <a:solidFill>
                  <a:srgbClr val="FF0000"/>
                </a:solidFill>
                <a:latin typeface="Georgia"/>
                <a:cs typeface="Georgia"/>
              </a:rPr>
              <a:t>led</a:t>
            </a:r>
            <a:endParaRPr lang="fr-FR" sz="1200" spc="-50" dirty="0" smtClean="0">
              <a:solidFill>
                <a:srgbClr val="FF0000"/>
              </a:solidFill>
              <a:latin typeface="Georgia"/>
              <a:cs typeface="Georgia"/>
            </a:endParaRP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solidFill>
                  <a:srgbClr val="FF0000"/>
                </a:solidFill>
                <a:latin typeface="Georgia"/>
                <a:cs typeface="Georgia"/>
              </a:rPr>
              <a:t>NB=15</a:t>
            </a: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solidFill>
                  <a:srgbClr val="FF0000"/>
                </a:solidFill>
                <a:latin typeface="Georgia"/>
                <a:cs typeface="Georgia"/>
              </a:rPr>
              <a:t>TMR0=0</a:t>
            </a:r>
            <a:endParaRPr lang="fr-FR" sz="1200" spc="-50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  <p:grpSp>
        <p:nvGrpSpPr>
          <p:cNvPr id="181" name="object 45"/>
          <p:cNvGrpSpPr/>
          <p:nvPr/>
        </p:nvGrpSpPr>
        <p:grpSpPr>
          <a:xfrm>
            <a:off x="10170448" y="5039065"/>
            <a:ext cx="444850" cy="166932"/>
            <a:chOff x="2605595" y="6921182"/>
            <a:chExt cx="1096645" cy="213995"/>
          </a:xfrm>
        </p:grpSpPr>
        <p:sp>
          <p:nvSpPr>
            <p:cNvPr id="182" name="object 46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Non</a:t>
              </a:r>
              <a:endParaRPr sz="1200" dirty="0"/>
            </a:p>
          </p:txBody>
        </p:sp>
        <p:sp>
          <p:nvSpPr>
            <p:cNvPr id="183" name="object 47"/>
            <p:cNvSpPr/>
            <p:nvPr/>
          </p:nvSpPr>
          <p:spPr>
            <a:xfrm>
              <a:off x="2613532" y="6929119"/>
              <a:ext cx="1080770" cy="198120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cxnSp>
        <p:nvCxnSpPr>
          <p:cNvPr id="196" name="Connecteur droit avec flèche 195"/>
          <p:cNvCxnSpPr/>
          <p:nvPr/>
        </p:nvCxnSpPr>
        <p:spPr>
          <a:xfrm>
            <a:off x="8641495" y="4792406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Connecteur droit avec flèche 241"/>
          <p:cNvCxnSpPr/>
          <p:nvPr/>
        </p:nvCxnSpPr>
        <p:spPr>
          <a:xfrm>
            <a:off x="8645978" y="3492530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Connecteur droit avec flèche 242"/>
          <p:cNvCxnSpPr>
            <a:stCxn id="180" idx="2"/>
          </p:cNvCxnSpPr>
          <p:nvPr/>
        </p:nvCxnSpPr>
        <p:spPr>
          <a:xfrm flipH="1">
            <a:off x="8666074" y="5980720"/>
            <a:ext cx="54478" cy="206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en angle 13"/>
          <p:cNvCxnSpPr>
            <a:endCxn id="171" idx="3"/>
          </p:cNvCxnSpPr>
          <p:nvPr/>
        </p:nvCxnSpPr>
        <p:spPr>
          <a:xfrm rot="16200000" flipH="1">
            <a:off x="8617671" y="5010366"/>
            <a:ext cx="1911145" cy="586736"/>
          </a:xfrm>
          <a:prstGeom prst="bentConnector4">
            <a:avLst>
              <a:gd name="adj1" fmla="val 770"/>
              <a:gd name="adj2" fmla="val 1389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4" name="object 64"/>
          <p:cNvGrpSpPr/>
          <p:nvPr/>
        </p:nvGrpSpPr>
        <p:grpSpPr>
          <a:xfrm>
            <a:off x="8606762" y="6547611"/>
            <a:ext cx="147546" cy="314498"/>
            <a:chOff x="2502852" y="8315325"/>
            <a:chExt cx="123825" cy="497522"/>
          </a:xfrm>
        </p:grpSpPr>
        <p:sp>
          <p:nvSpPr>
            <p:cNvPr id="245" name="object 67"/>
            <p:cNvSpPr/>
            <p:nvPr/>
          </p:nvSpPr>
          <p:spPr>
            <a:xfrm>
              <a:off x="2502852" y="8689022"/>
              <a:ext cx="123825" cy="12382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6" name="object 68"/>
            <p:cNvSpPr/>
            <p:nvPr/>
          </p:nvSpPr>
          <p:spPr>
            <a:xfrm>
              <a:off x="2539364" y="8315325"/>
              <a:ext cx="50800" cy="366395"/>
            </a:xfrm>
            <a:custGeom>
              <a:avLst/>
              <a:gdLst/>
              <a:ahLst/>
              <a:cxnLst/>
              <a:rect l="l" t="t" r="r" b="b"/>
              <a:pathLst>
                <a:path w="50800" h="366395">
                  <a:moveTo>
                    <a:pt x="19050" y="315594"/>
                  </a:moveTo>
                  <a:lnTo>
                    <a:pt x="0" y="315594"/>
                  </a:lnTo>
                  <a:lnTo>
                    <a:pt x="25400" y="366394"/>
                  </a:lnTo>
                  <a:lnTo>
                    <a:pt x="41275" y="334644"/>
                  </a:lnTo>
                  <a:lnTo>
                    <a:pt x="21843" y="334644"/>
                  </a:lnTo>
                  <a:lnTo>
                    <a:pt x="19050" y="331850"/>
                  </a:lnTo>
                  <a:lnTo>
                    <a:pt x="19050" y="315594"/>
                  </a:lnTo>
                  <a:close/>
                </a:path>
                <a:path w="50800" h="366395">
                  <a:moveTo>
                    <a:pt x="28956" y="0"/>
                  </a:moveTo>
                  <a:lnTo>
                    <a:pt x="21843" y="0"/>
                  </a:lnTo>
                  <a:lnTo>
                    <a:pt x="19050" y="2793"/>
                  </a:lnTo>
                  <a:lnTo>
                    <a:pt x="19050" y="331850"/>
                  </a:lnTo>
                  <a:lnTo>
                    <a:pt x="21843" y="334644"/>
                  </a:lnTo>
                  <a:lnTo>
                    <a:pt x="28956" y="334644"/>
                  </a:lnTo>
                  <a:lnTo>
                    <a:pt x="31750" y="331850"/>
                  </a:lnTo>
                  <a:lnTo>
                    <a:pt x="31750" y="2793"/>
                  </a:lnTo>
                  <a:lnTo>
                    <a:pt x="28956" y="0"/>
                  </a:lnTo>
                  <a:close/>
                </a:path>
                <a:path w="50800" h="366395">
                  <a:moveTo>
                    <a:pt x="50800" y="315594"/>
                  </a:moveTo>
                  <a:lnTo>
                    <a:pt x="31750" y="315594"/>
                  </a:lnTo>
                  <a:lnTo>
                    <a:pt x="31750" y="331850"/>
                  </a:lnTo>
                  <a:lnTo>
                    <a:pt x="28956" y="334644"/>
                  </a:lnTo>
                  <a:lnTo>
                    <a:pt x="41275" y="334644"/>
                  </a:lnTo>
                  <a:lnTo>
                    <a:pt x="50800" y="315594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47" name="object 71"/>
          <p:cNvSpPr/>
          <p:nvPr/>
        </p:nvSpPr>
        <p:spPr>
          <a:xfrm>
            <a:off x="2474854" y="5294447"/>
            <a:ext cx="2041353" cy="370978"/>
          </a:xfrm>
          <a:custGeom>
            <a:avLst/>
            <a:gdLst/>
            <a:ahLst/>
            <a:cxnLst/>
            <a:rect l="l" t="t" r="r" b="b"/>
            <a:pathLst>
              <a:path w="1800225" h="360045">
                <a:moveTo>
                  <a:pt x="0" y="360045"/>
                </a:moveTo>
                <a:lnTo>
                  <a:pt x="1800225" y="360045"/>
                </a:lnTo>
                <a:lnTo>
                  <a:pt x="1800225" y="0"/>
                </a:lnTo>
                <a:lnTo>
                  <a:pt x="0" y="0"/>
                </a:lnTo>
                <a:lnTo>
                  <a:pt x="0" y="3600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5875">
            <a:solidFill>
              <a:srgbClr val="00B0F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8" name="object 72"/>
          <p:cNvSpPr txBox="1"/>
          <p:nvPr/>
        </p:nvSpPr>
        <p:spPr>
          <a:xfrm>
            <a:off x="2417559" y="5342325"/>
            <a:ext cx="1978840" cy="216726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Afficher  A</a:t>
            </a:r>
            <a:endParaRPr sz="1200" dirty="0">
              <a:latin typeface="Georgia"/>
              <a:cs typeface="Georgia"/>
            </a:endParaRPr>
          </a:p>
        </p:txBody>
      </p:sp>
      <p:graphicFrame>
        <p:nvGraphicFramePr>
          <p:cNvPr id="38" name="Tableau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952542"/>
              </p:ext>
            </p:extLst>
          </p:nvPr>
        </p:nvGraphicFramePr>
        <p:xfrm>
          <a:off x="2742293" y="789604"/>
          <a:ext cx="7500984" cy="70817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376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762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3762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3762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8602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549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5134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3762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73932">
                <a:tc>
                  <a:txBody>
                    <a:bodyPr/>
                    <a:lstStyle/>
                    <a:p>
                      <a:r>
                        <a:rPr lang="fr-FR" dirty="0"/>
                        <a:t>Bit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Bit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2414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GIE = 1</a:t>
                      </a:r>
                      <a:endParaRPr lang="fr-FR" sz="1400" b="1" dirty="0">
                        <a:solidFill>
                          <a:srgbClr val="FF000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1" dirty="0">
                        <a:solidFill>
                          <a:srgbClr val="FF000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rgbClr val="FF000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T0IE=1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solidFill>
                            <a:srgbClr val="00B05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T0IF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Segoe UI" pitchFamily="34" charset="0"/>
                          <a:ea typeface="Segoe UI" pitchFamily="34" charset="0"/>
                          <a:cs typeface="Segoe UI" pitchFamily="34" charset="0"/>
                        </a:rPr>
                        <a:t>=1</a:t>
                      </a:r>
                      <a:endParaRPr lang="fr-FR" sz="1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1" dirty="0">
                        <a:solidFill>
                          <a:srgbClr val="FF000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1" dirty="0">
                        <a:solidFill>
                          <a:srgbClr val="00B050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-297525" y="868666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INTCON</a:t>
            </a:r>
            <a:endParaRPr lang="fr-FR" b="1" dirty="0">
              <a:solidFill>
                <a:schemeClr val="accent2"/>
              </a:solidFill>
            </a:endParaRPr>
          </a:p>
        </p:txBody>
      </p:sp>
      <p:cxnSp>
        <p:nvCxnSpPr>
          <p:cNvPr id="40" name="Connecteur en arc 39"/>
          <p:cNvCxnSpPr/>
          <p:nvPr/>
        </p:nvCxnSpPr>
        <p:spPr>
          <a:xfrm>
            <a:off x="7421021" y="1527997"/>
            <a:ext cx="855190" cy="82282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rc 40"/>
          <p:cNvCxnSpPr/>
          <p:nvPr/>
        </p:nvCxnSpPr>
        <p:spPr>
          <a:xfrm rot="10800000">
            <a:off x="5036237" y="4348162"/>
            <a:ext cx="2384785" cy="186735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62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10458</TotalTime>
  <Words>1478</Words>
  <Application>Microsoft Office PowerPoint</Application>
  <PresentationFormat>Widescreen</PresentationFormat>
  <Paragraphs>453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Georgia</vt:lpstr>
      <vt:lpstr>Segoe UI</vt:lpstr>
      <vt:lpstr>Times New Roman</vt:lpstr>
      <vt:lpstr>Wingdings</vt:lpstr>
      <vt:lpstr>Office Theme</vt:lpstr>
      <vt:lpstr>PowerPoint Presentation</vt:lpstr>
      <vt:lpstr>PLAN</vt:lpstr>
      <vt:lpstr>   Définition</vt:lpstr>
      <vt:lpstr>   Principe : TMR0 - MODE TIMER</vt:lpstr>
      <vt:lpstr>   Exemple1 : TMR0-MODE TIMER</vt:lpstr>
      <vt:lpstr>   Exemple2 : TMR0-MODE TIMER</vt:lpstr>
      <vt:lpstr>   Exemple3 : TMR0-MODE TIMER</vt:lpstr>
      <vt:lpstr>   Exemple4 : TMR0-MODE TIMER</vt:lpstr>
      <vt:lpstr>  Le rôle du TMR0</vt:lpstr>
      <vt:lpstr>   Exercice d’application</vt:lpstr>
      <vt:lpstr>Exemple de mesure de temps</vt:lpstr>
      <vt:lpstr>    Comment on peut calculer le Temps</vt:lpstr>
      <vt:lpstr>   Exemple :</vt:lpstr>
      <vt:lpstr>   Exemple :</vt:lpstr>
      <vt:lpstr>Exemple de mesure de temps</vt:lpstr>
      <vt:lpstr>Configuration de l’interruption sur TIMER0</vt:lpstr>
      <vt:lpstr>Exemple de mesure de temps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Oussama Jebali</dc:creator>
  <cp:lastModifiedBy>ben yahia med salouan</cp:lastModifiedBy>
  <cp:revision>291</cp:revision>
  <dcterms:created xsi:type="dcterms:W3CDTF">2015-03-06T15:17:24Z</dcterms:created>
  <dcterms:modified xsi:type="dcterms:W3CDTF">2022-11-21T10:17:31Z</dcterms:modified>
</cp:coreProperties>
</file>